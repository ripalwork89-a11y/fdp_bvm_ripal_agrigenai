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87"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86"/>
  </p:normalViewPr>
  <p:slideViewPr>
    <p:cSldViewPr snapToGrid="0">
      <p:cViewPr varScale="1">
        <p:scale>
          <a:sx n="80" d="100"/>
          <a:sy n="80" d="100"/>
        </p:scale>
        <p:origin x="-677" y="-7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96517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ripalwork89-a11y/FDP_BVM_Ripal_AgriGenAI"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xmlns=""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xmlns=""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dirty="0" err="1" smtClean="0"/>
                        <a:t>Ripal</a:t>
                      </a:r>
                      <a:r>
                        <a:rPr lang="en-US" dirty="0" smtClean="0"/>
                        <a:t> </a:t>
                      </a:r>
                      <a:r>
                        <a:rPr lang="en-US" dirty="0" err="1" smtClean="0"/>
                        <a:t>Ratilal</a:t>
                      </a:r>
                      <a:r>
                        <a:rPr lang="en-US" dirty="0" smtClean="0"/>
                        <a:t> Patel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ripal.patel@svmit.ac.in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9429187507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t>Agriculture</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err="1" smtClean="0"/>
              <a:t>AgriGenAI</a:t>
            </a:r>
            <a:r>
              <a:rPr lang="en-US" sz="2400" b="1" dirty="0" smtClean="0"/>
              <a:t> (</a:t>
            </a:r>
            <a:r>
              <a:rPr lang="en-US" sz="2400" dirty="0" smtClean="0"/>
              <a:t>AI </a:t>
            </a:r>
            <a:r>
              <a:rPr lang="en-US" sz="2400" dirty="0" smtClean="0"/>
              <a:t>Agent for Smart Farming </a:t>
            </a:r>
            <a:r>
              <a:rPr lang="en-US" sz="2400" dirty="0" smtClean="0"/>
              <a:t>Advice)</a:t>
            </a:r>
            <a:endParaRPr lang="en-IN" sz="2400" b="1" dirty="0">
              <a:highlight>
                <a:srgbClr val="FFFF00"/>
              </a:highlight>
            </a:endParaRPr>
          </a:p>
        </p:txBody>
      </p:sp>
      <p:pic>
        <p:nvPicPr>
          <p:cNvPr id="1027" name="Picture 3" descr="C:\Users\hp\Downloads\1000005218.jpeg"/>
          <p:cNvPicPr>
            <a:picLocks noChangeAspect="1" noChangeArrowheads="1"/>
          </p:cNvPicPr>
          <p:nvPr/>
        </p:nvPicPr>
        <p:blipFill>
          <a:blip r:embed="rId3"/>
          <a:srcRect/>
          <a:stretch>
            <a:fillRect/>
          </a:stretch>
        </p:blipFill>
        <p:spPr bwMode="auto">
          <a:xfrm>
            <a:off x="3981450" y="3619501"/>
            <a:ext cx="1266825" cy="112395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561974"/>
            <a:ext cx="10607040" cy="5601533"/>
          </a:xfrm>
          <a:prstGeom prst="rect">
            <a:avLst/>
          </a:prstGeom>
          <a:noFill/>
        </p:spPr>
        <p:txBody>
          <a:bodyPr wrap="square" rtlCol="0">
            <a:spAutoFit/>
          </a:bodyPr>
          <a:lstStyle/>
          <a:p>
            <a:pPr fontAlgn="base"/>
            <a:r>
              <a:rPr lang="en-US" b="1" dirty="0">
                <a:latin typeface="Times New Roman" pitchFamily="18" charset="0"/>
                <a:cs typeface="Times New Roman" pitchFamily="18" charset="0"/>
              </a:rPr>
              <a:t>Problem Statement : </a:t>
            </a:r>
            <a:r>
              <a:rPr lang="en-US" dirty="0" smtClean="0">
                <a:latin typeface="Times New Roman" pitchFamily="18" charset="0"/>
                <a:cs typeface="Times New Roman" pitchFamily="18" charset="0"/>
              </a:rPr>
              <a:t>AI Agent for Smart Farming Advice </a:t>
            </a:r>
            <a:r>
              <a:rPr lang="en-US" dirty="0">
                <a:latin typeface="Times New Roman" pitchFamily="18" charset="0"/>
                <a:cs typeface="Times New Roman" pitchFamily="18" charset="0"/>
              </a:rPr>
              <a:t> </a:t>
            </a:r>
          </a:p>
          <a:p>
            <a:pPr fontAlgn="base"/>
            <a:endParaRPr lang="en-US" b="1" dirty="0">
              <a:latin typeface="Times New Roman" pitchFamily="18" charset="0"/>
              <a:cs typeface="Times New Roman" pitchFamily="18" charset="0"/>
            </a:endParaRPr>
          </a:p>
          <a:p>
            <a:pPr fontAlgn="base"/>
            <a:r>
              <a:rPr lang="en-US" b="1" dirty="0" smtClean="0">
                <a:latin typeface="Times New Roman" pitchFamily="18" charset="0"/>
                <a:cs typeface="Times New Roman" pitchFamily="18" charset="0"/>
              </a:rPr>
              <a:t>The Challenge </a:t>
            </a:r>
            <a:r>
              <a:rPr lang="en-US" b="1" dirty="0" smtClean="0">
                <a:latin typeface="Times New Roman" pitchFamily="18" charset="0"/>
                <a:cs typeface="Times New Roman" pitchFamily="18" charset="0"/>
              </a:rPr>
              <a:t>:</a:t>
            </a:r>
          </a:p>
          <a:p>
            <a:pPr fontAlgn="base"/>
            <a:endParaRPr lang="en-US" dirty="0" smtClean="0">
              <a:latin typeface="Times New Roman" pitchFamily="18" charset="0"/>
              <a:cs typeface="Times New Roman" pitchFamily="18" charset="0"/>
            </a:endParaRPr>
          </a:p>
          <a:p>
            <a:pPr fontAlgn="base"/>
            <a:r>
              <a:rPr lang="en-US" dirty="0" smtClean="0">
                <a:latin typeface="Times New Roman" pitchFamily="18" charset="0"/>
                <a:cs typeface="Times New Roman" pitchFamily="18" charset="0"/>
              </a:rPr>
              <a:t>Farmers </a:t>
            </a:r>
            <a:r>
              <a:rPr lang="en-US" dirty="0" smtClean="0">
                <a:latin typeface="Times New Roman" pitchFamily="18" charset="0"/>
                <a:cs typeface="Times New Roman" pitchFamily="18" charset="0"/>
              </a:rPr>
              <a:t>often struggle with low crop yield, unpredictable weather, pest infestations, and limited access to timely expert advice. Traditional farming advisory services are fragmented, slow, and not personalized to the farmer’s specific land, crop, or climate conditions. With the rise of climate change, data-driven smart farming solutions are needed to empower farmers with actionable insights</a:t>
            </a:r>
            <a:r>
              <a:rPr lang="en-US" dirty="0" smtClean="0">
                <a:latin typeface="Times New Roman" pitchFamily="18" charset="0"/>
                <a:cs typeface="Times New Roman" pitchFamily="18" charset="0"/>
              </a:rPr>
              <a:t>.</a:t>
            </a:r>
          </a:p>
          <a:p>
            <a:pPr fontAlgn="base"/>
            <a:endParaRPr lang="en-US" dirty="0" smtClean="0">
              <a:latin typeface="Times New Roman" pitchFamily="18" charset="0"/>
              <a:cs typeface="Times New Roman" pitchFamily="18" charset="0"/>
            </a:endParaRPr>
          </a:p>
          <a:p>
            <a:pPr fontAlgn="base"/>
            <a:r>
              <a:rPr lang="en-US" b="1" dirty="0" smtClean="0">
                <a:latin typeface="Times New Roman" pitchFamily="18" charset="0"/>
                <a:cs typeface="Times New Roman" pitchFamily="18" charset="0"/>
              </a:rPr>
              <a:t>The </a:t>
            </a:r>
            <a:r>
              <a:rPr lang="en-US" b="1" dirty="0" smtClean="0">
                <a:latin typeface="Times New Roman" pitchFamily="18" charset="0"/>
                <a:cs typeface="Times New Roman" pitchFamily="18" charset="0"/>
              </a:rPr>
              <a:t>Objective:</a:t>
            </a:r>
          </a:p>
          <a:p>
            <a:pPr fontAlgn="base"/>
            <a:endParaRPr lang="en-US" dirty="0" smtClean="0">
              <a:latin typeface="Times New Roman" pitchFamily="18" charset="0"/>
              <a:cs typeface="Times New Roman" pitchFamily="18" charset="0"/>
            </a:endParaRPr>
          </a:p>
          <a:p>
            <a:pPr fontAlgn="base"/>
            <a:r>
              <a:rPr lang="en-US" dirty="0" smtClean="0">
                <a:latin typeface="Times New Roman" pitchFamily="18" charset="0"/>
                <a:cs typeface="Times New Roman" pitchFamily="18" charset="0"/>
              </a:rPr>
              <a:t>Develop </a:t>
            </a:r>
            <a:r>
              <a:rPr lang="en-US" dirty="0" smtClean="0">
                <a:latin typeface="Times New Roman" pitchFamily="18" charset="0"/>
                <a:cs typeface="Times New Roman" pitchFamily="18" charset="0"/>
              </a:rPr>
              <a:t>an AI-powered Smart Farming Agent that provides personalized, real-time, and sustainable agricultural advice. </a:t>
            </a:r>
            <a:endParaRPr lang="en-US" dirty="0" smtClean="0">
              <a:latin typeface="Times New Roman" pitchFamily="18" charset="0"/>
              <a:cs typeface="Times New Roman" pitchFamily="18" charset="0"/>
            </a:endParaRPr>
          </a:p>
          <a:p>
            <a:pPr fontAlgn="base"/>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solution should: </a:t>
            </a:r>
            <a:endParaRPr lang="en-US" dirty="0" smtClean="0">
              <a:latin typeface="Times New Roman" pitchFamily="18" charset="0"/>
              <a:cs typeface="Times New Roman" pitchFamily="18" charset="0"/>
            </a:endParaRPr>
          </a:p>
          <a:p>
            <a:pPr marL="342900" indent="-342900" fontAlgn="base">
              <a:buAutoNum type="arabicPeriod"/>
            </a:pPr>
            <a:r>
              <a:rPr lang="en-US" dirty="0" smtClean="0">
                <a:latin typeface="Times New Roman" pitchFamily="18" charset="0"/>
                <a:cs typeface="Times New Roman" pitchFamily="18" charset="0"/>
              </a:rPr>
              <a:t>Agricultural </a:t>
            </a:r>
            <a:r>
              <a:rPr lang="en-US" dirty="0" smtClean="0">
                <a:latin typeface="Times New Roman" pitchFamily="18" charset="0"/>
                <a:cs typeface="Times New Roman" pitchFamily="18" charset="0"/>
              </a:rPr>
              <a:t>Knowledge Retrieval (RAG) – Use Retrieval-Augmented Generation to fetch best practices, crop-specific guidelines, and government advisory updates. </a:t>
            </a:r>
            <a:endParaRPr lang="en-US" dirty="0" smtClean="0">
              <a:latin typeface="Times New Roman" pitchFamily="18" charset="0"/>
              <a:cs typeface="Times New Roman" pitchFamily="18" charset="0"/>
            </a:endParaRPr>
          </a:p>
          <a:p>
            <a:pPr marL="342900" indent="-342900" fontAlgn="base">
              <a:buAutoNum type="arabicPeriod"/>
            </a:pPr>
            <a:r>
              <a:rPr lang="en-US" dirty="0" smtClean="0">
                <a:latin typeface="Times New Roman" pitchFamily="18" charset="0"/>
                <a:cs typeface="Times New Roman" pitchFamily="18" charset="0"/>
              </a:rPr>
              <a:t>Weather </a:t>
            </a:r>
            <a:r>
              <a:rPr lang="en-US" dirty="0" smtClean="0">
                <a:latin typeface="Times New Roman" pitchFamily="18" charset="0"/>
                <a:cs typeface="Times New Roman" pitchFamily="18" charset="0"/>
              </a:rPr>
              <a:t>&amp; Soil Insights – Integrate real-time weather forecasts, soil health data, and irrigation needs to optimize farm </a:t>
            </a:r>
            <a:r>
              <a:rPr lang="en-US" dirty="0" smtClean="0">
                <a:latin typeface="Times New Roman" pitchFamily="18" charset="0"/>
                <a:cs typeface="Times New Roman" pitchFamily="18" charset="0"/>
              </a:rPr>
              <a:t>planning.</a:t>
            </a:r>
          </a:p>
          <a:p>
            <a:pPr marL="342900" indent="-342900" fontAlgn="base">
              <a:buAutoNum type="arabicPeriod"/>
            </a:pPr>
            <a:r>
              <a:rPr lang="en-US" dirty="0" smtClean="0">
                <a:latin typeface="Times New Roman" pitchFamily="18" charset="0"/>
                <a:cs typeface="Times New Roman" pitchFamily="18" charset="0"/>
              </a:rPr>
              <a:t>Pest </a:t>
            </a:r>
            <a:r>
              <a:rPr lang="en-US" dirty="0" smtClean="0">
                <a:latin typeface="Times New Roman" pitchFamily="18" charset="0"/>
                <a:cs typeface="Times New Roman" pitchFamily="18" charset="0"/>
              </a:rPr>
              <a:t>&amp; Disease Detection – Enable multimodal support where farmers upload crop images for early pest/disease identification and get instant </a:t>
            </a:r>
            <a:r>
              <a:rPr lang="en-US" dirty="0" smtClean="0">
                <a:latin typeface="Times New Roman" pitchFamily="18" charset="0"/>
                <a:cs typeface="Times New Roman" pitchFamily="18" charset="0"/>
              </a:rPr>
              <a:t>recommendations.</a:t>
            </a:r>
          </a:p>
          <a:p>
            <a:pPr marL="342900" indent="-342900" fontAlgn="base">
              <a:buAutoNum type="arabicPeriod"/>
            </a:pPr>
            <a:r>
              <a:rPr lang="en-US" dirty="0" smtClean="0">
                <a:latin typeface="Times New Roman" pitchFamily="18" charset="0"/>
                <a:cs typeface="Times New Roman" pitchFamily="18" charset="0"/>
              </a:rPr>
              <a:t>Personalized </a:t>
            </a:r>
            <a:r>
              <a:rPr lang="en-US" dirty="0" smtClean="0">
                <a:latin typeface="Times New Roman" pitchFamily="18" charset="0"/>
                <a:cs typeface="Times New Roman" pitchFamily="18" charset="0"/>
              </a:rPr>
              <a:t>Advisory Agent – Suggest seeds, fertilizers, irrigation schedules, and harvesting timelines based on farmer profile and land </a:t>
            </a:r>
            <a:r>
              <a:rPr lang="en-US" dirty="0" smtClean="0">
                <a:latin typeface="Times New Roman" pitchFamily="18" charset="0"/>
                <a:cs typeface="Times New Roman" pitchFamily="18" charset="0"/>
              </a:rPr>
              <a:t>conditions.</a:t>
            </a:r>
          </a:p>
          <a:p>
            <a:pPr marL="342900" indent="-342900" fontAlgn="base">
              <a:buAutoNum type="arabicPeriod"/>
            </a:pPr>
            <a:r>
              <a:rPr lang="en-US" dirty="0" smtClean="0">
                <a:latin typeface="Times New Roman" pitchFamily="18" charset="0"/>
                <a:cs typeface="Times New Roman" pitchFamily="18" charset="0"/>
              </a:rPr>
              <a:t>Market </a:t>
            </a:r>
            <a:r>
              <a:rPr lang="en-US" dirty="0" smtClean="0">
                <a:latin typeface="Times New Roman" pitchFamily="18" charset="0"/>
                <a:cs typeface="Times New Roman" pitchFamily="18" charset="0"/>
              </a:rPr>
              <a:t>&amp; Cost Optimization – Forecast demand, suggest market prices, and recommend cost-efficient practices for better </a:t>
            </a:r>
            <a:r>
              <a:rPr lang="en-US" dirty="0" smtClean="0">
                <a:latin typeface="Times New Roman" pitchFamily="18" charset="0"/>
                <a:cs typeface="Times New Roman" pitchFamily="18" charset="0"/>
              </a:rPr>
              <a:t>income.</a:t>
            </a:r>
          </a:p>
          <a:p>
            <a:pPr marL="342900" indent="-342900" fontAlgn="base">
              <a:buAutoNum type="arabicPeriod"/>
            </a:pPr>
            <a:r>
              <a:rPr lang="en-US" dirty="0" smtClean="0">
                <a:latin typeface="Times New Roman" pitchFamily="18" charset="0"/>
                <a:cs typeface="Times New Roman" pitchFamily="18" charset="0"/>
              </a:rPr>
              <a:t>Multi-Agent </a:t>
            </a:r>
            <a:r>
              <a:rPr lang="en-US" dirty="0" smtClean="0">
                <a:latin typeface="Times New Roman" pitchFamily="18" charset="0"/>
                <a:cs typeface="Times New Roman" pitchFamily="18" charset="0"/>
              </a:rPr>
              <a:t>Collaboration – </a:t>
            </a:r>
          </a:p>
          <a:p>
            <a:pPr marL="857250" lvl="8" indent="-171450" fontAlgn="base">
              <a:buFont typeface="Arial" pitchFamily="34" charset="0"/>
              <a:buChar char="•"/>
            </a:pPr>
            <a:r>
              <a:rPr lang="en-US" sz="1100" dirty="0" smtClean="0">
                <a:latin typeface="Times New Roman" pitchFamily="18" charset="0"/>
                <a:cs typeface="Times New Roman" pitchFamily="18" charset="0"/>
              </a:rPr>
              <a:t>Crop </a:t>
            </a:r>
            <a:r>
              <a:rPr lang="en-US" sz="1100" dirty="0" smtClean="0">
                <a:latin typeface="Times New Roman" pitchFamily="18" charset="0"/>
                <a:cs typeface="Times New Roman" pitchFamily="18" charset="0"/>
              </a:rPr>
              <a:t>Advisory Agent </a:t>
            </a:r>
          </a:p>
          <a:p>
            <a:pPr marL="857250" lvl="8" indent="-171450" fontAlgn="base">
              <a:buFont typeface="Arial" pitchFamily="34" charset="0"/>
              <a:buChar char="•"/>
            </a:pPr>
            <a:r>
              <a:rPr lang="en-US" sz="1100" dirty="0" smtClean="0">
                <a:latin typeface="Times New Roman" pitchFamily="18" charset="0"/>
                <a:cs typeface="Times New Roman" pitchFamily="18" charset="0"/>
              </a:rPr>
              <a:t>Weather </a:t>
            </a:r>
            <a:r>
              <a:rPr lang="en-US" sz="1100" dirty="0" smtClean="0">
                <a:latin typeface="Times New Roman" pitchFamily="18" charset="0"/>
                <a:cs typeface="Times New Roman" pitchFamily="18" charset="0"/>
              </a:rPr>
              <a:t>&amp; Irrigation Agent </a:t>
            </a:r>
          </a:p>
          <a:p>
            <a:pPr marL="857250" lvl="8" indent="-171450" fontAlgn="base">
              <a:buFont typeface="Arial" pitchFamily="34" charset="0"/>
              <a:buChar char="•"/>
            </a:pPr>
            <a:r>
              <a:rPr lang="en-US" sz="1100" dirty="0" smtClean="0">
                <a:latin typeface="Times New Roman" pitchFamily="18" charset="0"/>
                <a:cs typeface="Times New Roman" pitchFamily="18" charset="0"/>
              </a:rPr>
              <a:t>Pest/Disease </a:t>
            </a:r>
            <a:r>
              <a:rPr lang="en-US" sz="1100" dirty="0" smtClean="0">
                <a:latin typeface="Times New Roman" pitchFamily="18" charset="0"/>
                <a:cs typeface="Times New Roman" pitchFamily="18" charset="0"/>
              </a:rPr>
              <a:t>Detection Agent </a:t>
            </a:r>
          </a:p>
          <a:p>
            <a:pPr marL="857250" lvl="8" indent="-171450" fontAlgn="base">
              <a:buFont typeface="Arial" pitchFamily="34" charset="0"/>
              <a:buChar char="•"/>
            </a:pPr>
            <a:r>
              <a:rPr lang="en-US" sz="1100" dirty="0" smtClean="0">
                <a:latin typeface="Times New Roman" pitchFamily="18" charset="0"/>
                <a:cs typeface="Times New Roman" pitchFamily="18" charset="0"/>
              </a:rPr>
              <a:t>Market </a:t>
            </a:r>
            <a:r>
              <a:rPr lang="en-US" sz="1100" dirty="0" smtClean="0">
                <a:latin typeface="Times New Roman" pitchFamily="18" charset="0"/>
                <a:cs typeface="Times New Roman" pitchFamily="18" charset="0"/>
              </a:rPr>
              <a:t>Insights Agent</a:t>
            </a:r>
            <a:endParaRPr lang="en-US" sz="1100"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xmlns="" id="{3847FA31-EA47-D27A-9D69-AF50A3080AEC}"/>
              </a:ext>
            </a:extLst>
          </p:cNvPr>
          <p:cNvSpPr txBox="1"/>
          <p:nvPr/>
        </p:nvSpPr>
        <p:spPr>
          <a:xfrm>
            <a:off x="518922" y="0"/>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xmlns=""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07CFCB91-EF22-EB8C-5B0D-4D46021F0245}"/>
              </a:ext>
            </a:extLst>
          </p:cNvPr>
          <p:cNvSpPr txBox="1"/>
          <p:nvPr/>
        </p:nvSpPr>
        <p:spPr>
          <a:xfrm>
            <a:off x="667512" y="1165753"/>
            <a:ext cx="10607040" cy="3785652"/>
          </a:xfrm>
          <a:prstGeom prst="rect">
            <a:avLst/>
          </a:prstGeom>
          <a:noFill/>
        </p:spPr>
        <p:txBody>
          <a:bodyPr wrap="square" rtlCol="0">
            <a:spAutoFit/>
          </a:bodyPr>
          <a:lstStyle/>
          <a:p>
            <a:pPr fontAlgn="base"/>
            <a:r>
              <a:rPr lang="en-US" sz="2000" dirty="0" smtClean="0">
                <a:latin typeface="Times New Roman" pitchFamily="18" charset="0"/>
                <a:cs typeface="Times New Roman" pitchFamily="18" charset="0"/>
              </a:rPr>
              <a:t>Use any one of the following approaches: </a:t>
            </a:r>
          </a:p>
          <a:p>
            <a:pPr marL="285750" lvl="3" fontAlgn="base">
              <a:buFont typeface="Arial" pitchFamily="34" charset="0"/>
              <a:buChar char="•"/>
            </a:pPr>
            <a:r>
              <a:rPr lang="en-US" sz="2000" dirty="0" err="1" smtClean="0">
                <a:latin typeface="Times New Roman" pitchFamily="18" charset="0"/>
                <a:cs typeface="Times New Roman" pitchFamily="18" charset="0"/>
              </a:rPr>
              <a:t>LangFlow</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IBM watsonx.ai + Granite Models </a:t>
            </a:r>
          </a:p>
          <a:p>
            <a:pPr marL="285750" lvl="3" fontAlgn="base">
              <a:buFont typeface="Arial" pitchFamily="34" charset="0"/>
              <a:buChar char="•"/>
            </a:pPr>
            <a:r>
              <a:rPr lang="en-US" sz="2000" dirty="0" smtClean="0">
                <a:latin typeface="Times New Roman" pitchFamily="18" charset="0"/>
                <a:cs typeface="Times New Roman" pitchFamily="18" charset="0"/>
              </a:rPr>
              <a:t>IBM </a:t>
            </a:r>
            <a:r>
              <a:rPr lang="en-US" sz="2000" dirty="0" smtClean="0">
                <a:latin typeface="Times New Roman" pitchFamily="18" charset="0"/>
                <a:cs typeface="Times New Roman" pitchFamily="18" charset="0"/>
              </a:rPr>
              <a:t>Cloud </a:t>
            </a:r>
            <a:r>
              <a:rPr lang="en-US" sz="2000" dirty="0" err="1" smtClean="0">
                <a:latin typeface="Times New Roman" pitchFamily="18" charset="0"/>
                <a:cs typeface="Times New Roman" pitchFamily="18" charset="0"/>
              </a:rPr>
              <a:t>Agentic</a:t>
            </a:r>
            <a:r>
              <a:rPr lang="en-US" sz="2000" dirty="0" smtClean="0">
                <a:latin typeface="Times New Roman" pitchFamily="18" charset="0"/>
                <a:cs typeface="Times New Roman" pitchFamily="18" charset="0"/>
              </a:rPr>
              <a:t> Lab with IBM Granite Models </a:t>
            </a:r>
          </a:p>
          <a:p>
            <a:pPr marL="285750" lvl="3" fontAlgn="base">
              <a:buFont typeface="Arial" pitchFamily="34" charset="0"/>
              <a:buChar char="•"/>
            </a:pPr>
            <a:r>
              <a:rPr lang="en-US" sz="2000" dirty="0" smtClean="0">
                <a:latin typeface="Times New Roman" pitchFamily="18" charset="0"/>
                <a:cs typeface="Times New Roman" pitchFamily="18" charset="0"/>
              </a:rPr>
              <a:t>Replicate </a:t>
            </a:r>
            <a:r>
              <a:rPr lang="en-US" sz="2000" dirty="0" smtClean="0">
                <a:latin typeface="Times New Roman" pitchFamily="18" charset="0"/>
                <a:cs typeface="Times New Roman" pitchFamily="18" charset="0"/>
              </a:rPr>
              <a:t>with </a:t>
            </a:r>
            <a:r>
              <a:rPr lang="en-US" sz="2000" dirty="0" err="1" smtClean="0">
                <a:latin typeface="Times New Roman" pitchFamily="18" charset="0"/>
                <a:cs typeface="Times New Roman" pitchFamily="18" charset="0"/>
              </a:rPr>
              <a:t>LangChain</a:t>
            </a:r>
            <a:r>
              <a:rPr lang="en-US" sz="2000" dirty="0" smtClean="0">
                <a:latin typeface="Times New Roman" pitchFamily="18" charset="0"/>
                <a:cs typeface="Times New Roman" pitchFamily="18" charset="0"/>
              </a:rPr>
              <a:t> + RAG + IBM Granite </a:t>
            </a:r>
            <a:r>
              <a:rPr lang="en-US" sz="2000" dirty="0" smtClean="0">
                <a:latin typeface="Times New Roman" pitchFamily="18" charset="0"/>
                <a:cs typeface="Times New Roman" pitchFamily="18" charset="0"/>
              </a:rPr>
              <a:t>Models</a:t>
            </a:r>
          </a:p>
          <a:p>
            <a:pPr marL="285750" lvl="3" fontAlgn="base">
              <a:buFont typeface="Arial" pitchFamily="34" charset="0"/>
              <a:buChar char="•"/>
            </a:pPr>
            <a:endParaRPr lang="en-US" sz="2000" b="1" dirty="0" smtClean="0">
              <a:latin typeface="Times New Roman" pitchFamily="18" charset="0"/>
              <a:cs typeface="Times New Roman" pitchFamily="18" charset="0"/>
            </a:endParaRPr>
          </a:p>
          <a:p>
            <a:pPr marL="285750" lvl="3" fontAlgn="base">
              <a:buFont typeface="Arial" pitchFamily="34" charset="0"/>
              <a:buChar char="•"/>
            </a:pPr>
            <a:endParaRPr lang="en-US" sz="2000" b="1" dirty="0" smtClean="0">
              <a:latin typeface="Times New Roman" pitchFamily="18" charset="0"/>
              <a:cs typeface="Times New Roman" pitchFamily="18" charset="0"/>
            </a:endParaRPr>
          </a:p>
          <a:p>
            <a:pPr marL="57150" lvl="3" fontAlgn="base"/>
            <a:r>
              <a:rPr lang="en-US" sz="2000" b="1" dirty="0" smtClean="0">
                <a:latin typeface="Times New Roman" pitchFamily="18" charset="0"/>
                <a:cs typeface="Times New Roman" pitchFamily="18" charset="0"/>
              </a:rPr>
              <a:t>I used </a:t>
            </a:r>
            <a:r>
              <a:rPr lang="en-IN" sz="2000" b="1" dirty="0" err="1" smtClean="0">
                <a:latin typeface="Times New Roman" pitchFamily="18" charset="0"/>
                <a:cs typeface="Times New Roman" pitchFamily="18" charset="0"/>
              </a:rPr>
              <a:t>LangFlow</a:t>
            </a:r>
            <a:r>
              <a:rPr lang="en-IN" sz="2000" b="1" dirty="0">
                <a:latin typeface="Times New Roman" pitchFamily="18" charset="0"/>
                <a:cs typeface="Times New Roman" pitchFamily="18" charset="0"/>
              </a:rPr>
              <a:t> + IBM watsonx.ai + Granite Models</a:t>
            </a:r>
            <a:r>
              <a:rPr lang="en-IN" sz="2000" dirty="0">
                <a:latin typeface="Times New Roman" pitchFamily="18" charset="0"/>
                <a:cs typeface="Times New Roman" pitchFamily="18" charset="0"/>
              </a:rPr>
              <a:t> </a:t>
            </a:r>
          </a:p>
          <a:p>
            <a:pPr fontAlgn="base"/>
            <a:endParaRPr lang="en-IN" sz="2000" dirty="0">
              <a:latin typeface="Times New Roman" pitchFamily="18" charset="0"/>
              <a:cs typeface="Times New Roman" pitchFamily="18" charset="0"/>
            </a:endParaRPr>
          </a:p>
          <a:p>
            <a:pPr marL="285750" indent="-285750" fontAlgn="base">
              <a:buFont typeface="Arial" panose="020B0604020202020204" pitchFamily="34" charset="0"/>
              <a:buChar char="•"/>
            </a:pPr>
            <a:endParaRPr lang="en-IN" sz="2000" dirty="0">
              <a:latin typeface="Times New Roman" pitchFamily="18" charset="0"/>
              <a:cs typeface="Times New Roman" pitchFamily="18" charset="0"/>
            </a:endParaRPr>
          </a:p>
          <a:p>
            <a:pPr fontAlgn="base"/>
            <a:endParaRPr lang="en-IN"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xmlns=""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xmlns=""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466725" y="1234440"/>
            <a:ext cx="11353799" cy="5262979"/>
          </a:xfrm>
          <a:prstGeom prst="rect">
            <a:avLst/>
          </a:prstGeom>
          <a:noFill/>
        </p:spPr>
        <p:txBody>
          <a:bodyPr wrap="square" rtlCol="0">
            <a:spAutoFit/>
          </a:bodyPr>
          <a:lstStyle/>
          <a:p>
            <a:pPr algn="just" fontAlgn="base"/>
            <a:endParaRPr lang="en-US" b="1"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Proposed Solution: AI-Powered Nutrition </a:t>
            </a:r>
            <a:r>
              <a:rPr lang="en-US" b="1" dirty="0" smtClean="0">
                <a:latin typeface="Times New Roman" pitchFamily="18" charset="0"/>
                <a:cs typeface="Times New Roman" pitchFamily="18" charset="0"/>
              </a:rPr>
              <a:t>Agent</a:t>
            </a:r>
          </a:p>
          <a:p>
            <a:pPr algn="just"/>
            <a:endParaRPr lang="en-US" b="1"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proposed solution is a </a:t>
            </a:r>
            <a:r>
              <a:rPr lang="en-US" b="1" dirty="0" smtClean="0">
                <a:latin typeface="Times New Roman" pitchFamily="18" charset="0"/>
                <a:cs typeface="Times New Roman" pitchFamily="18" charset="0"/>
              </a:rPr>
              <a:t>multi-agent AI-powered Smart Farming Agent</a:t>
            </a:r>
            <a:r>
              <a:rPr lang="en-US" dirty="0" smtClean="0">
                <a:latin typeface="Times New Roman" pitchFamily="18" charset="0"/>
                <a:cs typeface="Times New Roman" pitchFamily="18" charset="0"/>
              </a:rPr>
              <a:t> built using </a:t>
            </a:r>
            <a:r>
              <a:rPr lang="en-US" b="1" dirty="0" err="1" smtClean="0">
                <a:latin typeface="Times New Roman" pitchFamily="18" charset="0"/>
                <a:cs typeface="Times New Roman" pitchFamily="18" charset="0"/>
              </a:rPr>
              <a:t>LangFlow</a:t>
            </a:r>
            <a:r>
              <a:rPr lang="en-US" b="1" dirty="0" smtClean="0">
                <a:latin typeface="Times New Roman" pitchFamily="18" charset="0"/>
                <a:cs typeface="Times New Roman" pitchFamily="18" charset="0"/>
              </a:rPr>
              <a:t>, IBM watsonx.ai, and Granite Models</a:t>
            </a:r>
            <a:r>
              <a:rPr lang="en-US" dirty="0" smtClean="0">
                <a:latin typeface="Times New Roman" pitchFamily="18" charset="0"/>
                <a:cs typeface="Times New Roman" pitchFamily="18" charset="0"/>
              </a:rPr>
              <a:t> to provide personalized, real-time agricultural advisory services. The system addresses key challenges in modern agriculture such as low crop yield, unpredictable weather conditions, pest infestations, and lack of timely expert guidance through an intelligent and modular AI architecture</a:t>
            </a:r>
            <a:r>
              <a:rPr lang="en-US" dirty="0" smtClean="0">
                <a:latin typeface="Times New Roman" pitchFamily="18" charset="0"/>
                <a:cs typeface="Times New Roman" pitchFamily="18" charset="0"/>
              </a:rPr>
              <a:t>.</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At its core, the solution uses a </a:t>
            </a:r>
            <a:r>
              <a:rPr lang="en-US" b="1" dirty="0" smtClean="0">
                <a:latin typeface="Times New Roman" pitchFamily="18" charset="0"/>
                <a:cs typeface="Times New Roman" pitchFamily="18" charset="0"/>
              </a:rPr>
              <a:t>Retrieval-Augmented Generation (RAG)-inspired pipeline</a:t>
            </a:r>
            <a:r>
              <a:rPr lang="en-US" dirty="0" smtClean="0">
                <a:latin typeface="Times New Roman" pitchFamily="18" charset="0"/>
                <a:cs typeface="Times New Roman" pitchFamily="18" charset="0"/>
              </a:rPr>
              <a:t> to utilize agricultural knowledge from trusted sources such as </a:t>
            </a:r>
            <a:r>
              <a:rPr lang="en-US" b="1" dirty="0" smtClean="0">
                <a:latin typeface="Times New Roman" pitchFamily="18" charset="0"/>
                <a:cs typeface="Times New Roman" pitchFamily="18" charset="0"/>
              </a:rPr>
              <a:t>ICAR guidelines, government agriculture advisories, crop production </a:t>
            </a:r>
            <a:r>
              <a:rPr lang="en-US" b="1" dirty="0" smtClean="0">
                <a:latin typeface="Times New Roman" pitchFamily="18" charset="0"/>
                <a:cs typeface="Times New Roman" pitchFamily="18" charset="0"/>
              </a:rPr>
              <a:t>manuals. </a:t>
            </a:r>
            <a:r>
              <a:rPr lang="en-US" dirty="0" smtClean="0">
                <a:latin typeface="Times New Roman" pitchFamily="18" charset="0"/>
                <a:cs typeface="Times New Roman" pitchFamily="18" charset="0"/>
              </a:rPr>
              <a:t>This </a:t>
            </a:r>
            <a:r>
              <a:rPr lang="en-US" dirty="0" smtClean="0">
                <a:latin typeface="Times New Roman" pitchFamily="18" charset="0"/>
                <a:cs typeface="Times New Roman" pitchFamily="18" charset="0"/>
              </a:rPr>
              <a:t>knowledge is processed and used by Granite models to generate accurate, context-aware farming recommendations.</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system consists of four key agents:</a:t>
            </a:r>
          </a:p>
          <a:p>
            <a:pPr algn="just"/>
            <a:r>
              <a:rPr lang="en-US" b="1" dirty="0" smtClean="0">
                <a:latin typeface="Times New Roman" pitchFamily="18" charset="0"/>
                <a:cs typeface="Times New Roman" pitchFamily="18" charset="0"/>
              </a:rPr>
              <a:t>Crop Advisory Agent</a:t>
            </a:r>
            <a:r>
              <a:rPr lang="en-US" dirty="0" smtClean="0">
                <a:latin typeface="Times New Roman" pitchFamily="18" charset="0"/>
                <a:cs typeface="Times New Roman" pitchFamily="18" charset="0"/>
              </a:rPr>
              <a:t> retrieves agricultural best practices and provides recommendations for crop selection, fertilizer usage, irrigation scheduling, and yield improvement techniques. </a:t>
            </a:r>
          </a:p>
          <a:p>
            <a:pPr algn="just"/>
            <a:r>
              <a:rPr lang="en-US" b="1" dirty="0" smtClean="0">
                <a:latin typeface="Times New Roman" pitchFamily="18" charset="0"/>
                <a:cs typeface="Times New Roman" pitchFamily="18" charset="0"/>
              </a:rPr>
              <a:t>Weather &amp; Irrigation Agent</a:t>
            </a:r>
            <a:r>
              <a:rPr lang="en-US" dirty="0" smtClean="0">
                <a:latin typeface="Times New Roman" pitchFamily="18" charset="0"/>
                <a:cs typeface="Times New Roman" pitchFamily="18" charset="0"/>
              </a:rPr>
              <a:t> analyzes weather patterns and environmental conditions to suggest optimal irrigation schedules, rainfall-based planning, and water conservation strategies. </a:t>
            </a:r>
          </a:p>
          <a:p>
            <a:pPr algn="just"/>
            <a:r>
              <a:rPr lang="en-US" b="1" dirty="0" smtClean="0">
                <a:latin typeface="Times New Roman" pitchFamily="18" charset="0"/>
                <a:cs typeface="Times New Roman" pitchFamily="18" charset="0"/>
              </a:rPr>
              <a:t>Pest &amp; Disease Detection Agent</a:t>
            </a:r>
            <a:r>
              <a:rPr lang="en-US" dirty="0" smtClean="0">
                <a:latin typeface="Times New Roman" pitchFamily="18" charset="0"/>
                <a:cs typeface="Times New Roman" pitchFamily="18" charset="0"/>
              </a:rPr>
              <a:t> identifies crop health issues based on symptoms or descriptions and provides immediate treatment methods along with preventive measures. </a:t>
            </a:r>
          </a:p>
          <a:p>
            <a:pPr algn="just"/>
            <a:r>
              <a:rPr lang="en-US" b="1" dirty="0" smtClean="0">
                <a:latin typeface="Times New Roman" pitchFamily="18" charset="0"/>
                <a:cs typeface="Times New Roman" pitchFamily="18" charset="0"/>
              </a:rPr>
              <a:t>Market Insight Agent</a:t>
            </a:r>
            <a:r>
              <a:rPr lang="en-US" dirty="0" smtClean="0">
                <a:latin typeface="Times New Roman" pitchFamily="18" charset="0"/>
                <a:cs typeface="Times New Roman" pitchFamily="18" charset="0"/>
              </a:rPr>
              <a:t> delivers crop price forecasts, demand trends, and cost-effective selling strategies to help farmers maximize income. </a:t>
            </a:r>
          </a:p>
          <a:p>
            <a:pPr algn="just"/>
            <a:r>
              <a:rPr lang="en-US" dirty="0" smtClean="0">
                <a:latin typeface="Times New Roman" pitchFamily="18" charset="0"/>
                <a:cs typeface="Times New Roman" pitchFamily="18" charset="0"/>
              </a:rPr>
              <a:t>The system can be accessed through a </a:t>
            </a:r>
            <a:r>
              <a:rPr lang="en-US" b="1" dirty="0" smtClean="0">
                <a:latin typeface="Times New Roman" pitchFamily="18" charset="0"/>
                <a:cs typeface="Times New Roman" pitchFamily="18" charset="0"/>
              </a:rPr>
              <a:t>user-friendly conversational interface</a:t>
            </a:r>
            <a:r>
              <a:rPr lang="en-US" dirty="0" smtClean="0">
                <a:latin typeface="Times New Roman" pitchFamily="18" charset="0"/>
                <a:cs typeface="Times New Roman" pitchFamily="18" charset="0"/>
              </a:rPr>
              <a:t>, allowing farmers to input queries in natural language. The AI system processes the input, routes it to the appropriate agent using intelligent prompt-based classification, and generates actionable farming advice in real time</a:t>
            </a:r>
            <a:r>
              <a:rPr lang="en-US" dirty="0" smtClean="0">
                <a:latin typeface="Times New Roman" pitchFamily="18" charset="0"/>
                <a:cs typeface="Times New Roman" pitchFamily="18" charset="0"/>
              </a:rPr>
              <a:t>.</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Overall, this solution delivers an end-to-end intelligent farming assistant that empowers farmers with </a:t>
            </a:r>
            <a:r>
              <a:rPr lang="en-US" b="1" dirty="0" smtClean="0">
                <a:latin typeface="Times New Roman" pitchFamily="18" charset="0"/>
                <a:cs typeface="Times New Roman" pitchFamily="18" charset="0"/>
              </a:rPr>
              <a:t>data-driven insights, improved productivity, sustainable farming practices, and real-time decision support</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xmlns=""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6"/>
            <a:ext cx="10955178" cy="5509200"/>
          </a:xfrm>
          <a:prstGeom prst="rect">
            <a:avLst/>
          </a:prstGeom>
          <a:noFill/>
        </p:spPr>
        <p:txBody>
          <a:bodyPr wrap="square" rtlCol="0">
            <a:spAutoFit/>
          </a:bodyPr>
          <a:lstStyle/>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1) Chat Input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Interface </a:t>
            </a:r>
            <a:r>
              <a:rPr lang="en-US" sz="1600" dirty="0" smtClean="0">
                <a:latin typeface="Times New Roman" pitchFamily="18" charset="0"/>
                <a:cs typeface="Times New Roman" pitchFamily="18" charset="0"/>
              </a:rPr>
              <a:t>where farmers enter their queries .</a:t>
            </a:r>
            <a:r>
              <a:rPr lang="en-US" sz="1600" dirty="0" smtClean="0">
                <a:latin typeface="Times New Roman" pitchFamily="18" charset="0"/>
                <a:cs typeface="Times New Roman" pitchFamily="18" charset="0"/>
              </a:rPr>
              <a:t> Supports </a:t>
            </a:r>
            <a:r>
              <a:rPr lang="en-US" sz="1600" dirty="0" smtClean="0">
                <a:latin typeface="Times New Roman" pitchFamily="18" charset="0"/>
                <a:cs typeface="Times New Roman" pitchFamily="18" charset="0"/>
              </a:rPr>
              <a:t>farming-related questions such as crop issues, weather, pest problems, and market </a:t>
            </a:r>
            <a:r>
              <a:rPr lang="en-US" sz="1600" dirty="0" smtClean="0">
                <a:latin typeface="Times New Roman" pitchFamily="18" charset="0"/>
                <a:cs typeface="Times New Roman" pitchFamily="18" charset="0"/>
              </a:rPr>
              <a:t>prices</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2) IBM </a:t>
            </a:r>
            <a:r>
              <a:rPr lang="en-US" sz="1600" b="1" dirty="0" err="1">
                <a:latin typeface="Times New Roman" pitchFamily="18" charset="0"/>
                <a:cs typeface="Times New Roman" pitchFamily="18" charset="0"/>
              </a:rPr>
              <a:t>watsonx</a:t>
            </a:r>
            <a:r>
              <a:rPr lang="en-US" sz="1600" b="1" dirty="0">
                <a:latin typeface="Times New Roman" pitchFamily="18" charset="0"/>
                <a:cs typeface="Times New Roman" pitchFamily="18" charset="0"/>
              </a:rPr>
              <a:t> AI Agent </a:t>
            </a: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Core reasoning engine of the </a:t>
            </a:r>
            <a:r>
              <a:rPr lang="en-US" sz="1600" dirty="0" smtClean="0">
                <a:latin typeface="Times New Roman" pitchFamily="18" charset="0"/>
                <a:cs typeface="Times New Roman" pitchFamily="18" charset="0"/>
              </a:rPr>
              <a:t>system. Processes </a:t>
            </a:r>
            <a:r>
              <a:rPr lang="en-US" sz="1600" dirty="0" smtClean="0">
                <a:latin typeface="Times New Roman" pitchFamily="18" charset="0"/>
                <a:cs typeface="Times New Roman" pitchFamily="18" charset="0"/>
              </a:rPr>
              <a:t>user input using </a:t>
            </a:r>
            <a:r>
              <a:rPr lang="en-US" sz="1600" b="1" dirty="0" smtClean="0">
                <a:latin typeface="Times New Roman" pitchFamily="18" charset="0"/>
                <a:cs typeface="Times New Roman" pitchFamily="18" charset="0"/>
              </a:rPr>
              <a:t>Granite foundation </a:t>
            </a:r>
            <a:r>
              <a:rPr lang="en-US" sz="1600" b="1" dirty="0" smtClean="0">
                <a:latin typeface="Times New Roman" pitchFamily="18" charset="0"/>
                <a:cs typeface="Times New Roman" pitchFamily="18" charset="0"/>
              </a:rPr>
              <a:t>models.</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Understands agricultural context and generates intelligent responses</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3) Name of IBM Granite model - </a:t>
            </a:r>
            <a:r>
              <a:rPr lang="en-US" sz="1600" b="1" dirty="0" smtClean="0">
                <a:latin typeface="Times New Roman" pitchFamily="18" charset="0"/>
                <a:cs typeface="Times New Roman" pitchFamily="18" charset="0"/>
              </a:rPr>
              <a:t>Granite-4.0-8B-Instruct</a:t>
            </a:r>
            <a:r>
              <a:rPr lang="en-US" sz="1600" dirty="0" smtClean="0">
                <a:latin typeface="Times New Roman" pitchFamily="18" charset="0"/>
                <a:cs typeface="Times New Roman" pitchFamily="18" charset="0"/>
              </a:rPr>
              <a:t> Optimized for: Real-time reasoning </a:t>
            </a:r>
          </a:p>
          <a:p>
            <a:r>
              <a:rPr lang="en-US" sz="1600" dirty="0" smtClean="0">
                <a:latin typeface="Times New Roman" pitchFamily="18" charset="0"/>
                <a:cs typeface="Times New Roman" pitchFamily="18" charset="0"/>
              </a:rPr>
              <a:t>Agricultural advisory </a:t>
            </a:r>
            <a:r>
              <a:rPr lang="en-US" sz="1600" dirty="0" smtClean="0">
                <a:latin typeface="Times New Roman" pitchFamily="18" charset="0"/>
                <a:cs typeface="Times New Roman" pitchFamily="18" charset="0"/>
              </a:rPr>
              <a:t>generation.  Context-aware responses. Provides </a:t>
            </a:r>
            <a:r>
              <a:rPr lang="en-US" sz="1600" dirty="0" smtClean="0">
                <a:latin typeface="Times New Roman" pitchFamily="18" charset="0"/>
                <a:cs typeface="Times New Roman" pitchFamily="18" charset="0"/>
              </a:rPr>
              <a:t>fast and accurate farming recommendations</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4) Chat output -</a:t>
            </a:r>
            <a:r>
              <a:rPr lang="en-US" sz="1600" dirty="0">
                <a:latin typeface="Times New Roman" pitchFamily="18" charset="0"/>
                <a:cs typeface="Times New Roman" pitchFamily="18" charset="0"/>
              </a:rPr>
              <a:t>Displays AI-generated responses such as diet plans, nutritional analysis, and health suggestions. </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5) </a:t>
            </a:r>
            <a:r>
              <a:rPr lang="en-US" sz="1600" b="1" dirty="0" smtClean="0">
                <a:latin typeface="Times New Roman" pitchFamily="18" charset="0"/>
                <a:cs typeface="Times New Roman" pitchFamily="18" charset="0"/>
              </a:rPr>
              <a:t>File </a:t>
            </a:r>
            <a:r>
              <a:rPr lang="en-US" sz="1600" b="1" dirty="0" smtClean="0">
                <a:latin typeface="Times New Roman" pitchFamily="18" charset="0"/>
                <a:cs typeface="Times New Roman" pitchFamily="18" charset="0"/>
              </a:rPr>
              <a:t>Component : </a:t>
            </a:r>
            <a:r>
              <a:rPr lang="en-US" sz="1600" dirty="0" smtClean="0">
                <a:latin typeface="Times New Roman" pitchFamily="18" charset="0"/>
                <a:cs typeface="Times New Roman" pitchFamily="18" charset="0"/>
              </a:rPr>
              <a:t>Stores </a:t>
            </a:r>
            <a:r>
              <a:rPr lang="en-US" sz="1600" dirty="0" smtClean="0">
                <a:latin typeface="Times New Roman" pitchFamily="18" charset="0"/>
                <a:cs typeface="Times New Roman" pitchFamily="18" charset="0"/>
              </a:rPr>
              <a:t>agricultural documents and datasets such as: </a:t>
            </a:r>
            <a:r>
              <a:rPr lang="en-US" sz="1600" dirty="0" smtClean="0">
                <a:latin typeface="Times New Roman" pitchFamily="18" charset="0"/>
                <a:cs typeface="Times New Roman" pitchFamily="18" charset="0"/>
              </a:rPr>
              <a:t> ICAR guidelines, Crop </a:t>
            </a:r>
            <a:r>
              <a:rPr lang="en-US" sz="1600" dirty="0" smtClean="0">
                <a:latin typeface="Times New Roman" pitchFamily="18" charset="0"/>
                <a:cs typeface="Times New Roman" pitchFamily="18" charset="0"/>
              </a:rPr>
              <a:t>production </a:t>
            </a:r>
            <a:r>
              <a:rPr lang="en-US" sz="1600" dirty="0" smtClean="0">
                <a:latin typeface="Times New Roman" pitchFamily="18" charset="0"/>
                <a:cs typeface="Times New Roman" pitchFamily="18" charset="0"/>
              </a:rPr>
              <a:t>manuals, Soil </a:t>
            </a:r>
            <a:r>
              <a:rPr lang="en-US" sz="1600" dirty="0" smtClean="0">
                <a:latin typeface="Times New Roman" pitchFamily="18" charset="0"/>
                <a:cs typeface="Times New Roman" pitchFamily="18" charset="0"/>
              </a:rPr>
              <a:t>health </a:t>
            </a:r>
            <a:r>
              <a:rPr lang="en-US" sz="1600" dirty="0" smtClean="0">
                <a:latin typeface="Times New Roman" pitchFamily="18" charset="0"/>
                <a:cs typeface="Times New Roman" pitchFamily="18" charset="0"/>
              </a:rPr>
              <a:t>reports. Helps </a:t>
            </a:r>
            <a:r>
              <a:rPr lang="en-US" sz="1600" dirty="0" smtClean="0">
                <a:latin typeface="Times New Roman" pitchFamily="18" charset="0"/>
                <a:cs typeface="Times New Roman" pitchFamily="18" charset="0"/>
              </a:rPr>
              <a:t>provide knowledge-based context for better </a:t>
            </a:r>
            <a:r>
              <a:rPr lang="en-US" sz="1600" dirty="0" smtClean="0">
                <a:latin typeface="Times New Roman" pitchFamily="18" charset="0"/>
                <a:cs typeface="Times New Roman" pitchFamily="18" charset="0"/>
              </a:rPr>
              <a:t>responses</a:t>
            </a:r>
            <a:endParaRPr lang="en-US" sz="1600" dirty="0" smtClean="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6</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Prompt </a:t>
            </a:r>
            <a:r>
              <a:rPr lang="en-US" sz="1600" b="1" dirty="0" smtClean="0">
                <a:latin typeface="Times New Roman" pitchFamily="18" charset="0"/>
                <a:cs typeface="Times New Roman" pitchFamily="18" charset="0"/>
              </a:rPr>
              <a:t>Template: </a:t>
            </a:r>
            <a:r>
              <a:rPr lang="en-US" sz="1600" dirty="0" smtClean="0">
                <a:latin typeface="Times New Roman" pitchFamily="18" charset="0"/>
                <a:cs typeface="Times New Roman" pitchFamily="18" charset="0"/>
              </a:rPr>
              <a:t>Structures </a:t>
            </a:r>
            <a:r>
              <a:rPr lang="en-US" sz="1600" dirty="0" smtClean="0">
                <a:latin typeface="Times New Roman" pitchFamily="18" charset="0"/>
                <a:cs typeface="Times New Roman" pitchFamily="18" charset="0"/>
              </a:rPr>
              <a:t>the input for the AI model </a:t>
            </a:r>
            <a:r>
              <a:rPr lang="en-US" sz="1600" dirty="0" smtClean="0">
                <a:latin typeface="Times New Roman" pitchFamily="18" charset="0"/>
                <a:cs typeface="Times New Roman" pitchFamily="18" charset="0"/>
              </a:rPr>
              <a:t> Combines</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User query, Agricultural </a:t>
            </a:r>
            <a:r>
              <a:rPr lang="en-US" sz="1600" dirty="0" smtClean="0">
                <a:latin typeface="Times New Roman" pitchFamily="18" charset="0"/>
                <a:cs typeface="Times New Roman" pitchFamily="18" charset="0"/>
              </a:rPr>
              <a:t>context (if </a:t>
            </a:r>
            <a:r>
              <a:rPr lang="en-US" sz="1600" dirty="0" smtClean="0">
                <a:latin typeface="Times New Roman" pitchFamily="18" charset="0"/>
                <a:cs typeface="Times New Roman" pitchFamily="18" charset="0"/>
              </a:rPr>
              <a:t>provided). Ensures </a:t>
            </a:r>
            <a:r>
              <a:rPr lang="en-US" sz="1600" dirty="0" smtClean="0">
                <a:latin typeface="Times New Roman" pitchFamily="18" charset="0"/>
                <a:cs typeface="Times New Roman" pitchFamily="18" charset="0"/>
              </a:rPr>
              <a:t>structured and domain-specific </a:t>
            </a:r>
            <a:r>
              <a:rPr lang="en-US" sz="1600" dirty="0" smtClean="0">
                <a:latin typeface="Times New Roman" pitchFamily="18" charset="0"/>
                <a:cs typeface="Times New Roman" pitchFamily="18" charset="0"/>
              </a:rPr>
              <a:t>responses</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7) Parser</a:t>
            </a:r>
            <a:r>
              <a:rPr lang="en-US" sz="1600" dirty="0" smtClean="0">
                <a:latin typeface="Times New Roman" pitchFamily="18" charset="0"/>
                <a:cs typeface="Times New Roman" pitchFamily="18" charset="0"/>
              </a:rPr>
              <a:t>: Use to convert File content into message format.</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8) Agent</a:t>
            </a:r>
            <a:r>
              <a:rPr lang="en-US" sz="1600" dirty="0" smtClean="0">
                <a:latin typeface="Times New Roman" pitchFamily="18" charset="0"/>
                <a:cs typeface="Times New Roman" pitchFamily="18" charset="0"/>
              </a:rPr>
              <a:t>: includes 5 Agent (Main agent working as a router and others </a:t>
            </a:r>
            <a:r>
              <a:rPr lang="en-US" sz="1600" dirty="0" smtClean="0">
                <a:latin typeface="Times New Roman" pitchFamily="18" charset="0"/>
                <a:cs typeface="Times New Roman" pitchFamily="18" charset="0"/>
              </a:rPr>
              <a:t>are CROP ADVISORY AGENT, WEATHER &amp; IRRIGATION AGENT, PEST / DISEASE DETECTION AGENT, MARKET INSIGHTS </a:t>
            </a:r>
            <a:r>
              <a:rPr lang="en-US" sz="1600" dirty="0" smtClean="0">
                <a:latin typeface="Times New Roman" pitchFamily="18" charset="0"/>
                <a:cs typeface="Times New Roman" pitchFamily="18" charset="0"/>
              </a:rPr>
              <a:t>AGENT).  </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xmlns=""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184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2050" name="Picture 2"/>
          <p:cNvPicPr>
            <a:picLocks noChangeAspect="1" noChangeArrowheads="1"/>
          </p:cNvPicPr>
          <p:nvPr/>
        </p:nvPicPr>
        <p:blipFill>
          <a:blip r:embed="rId3"/>
          <a:srcRect l="5114" r="6006"/>
          <a:stretch>
            <a:fillRect/>
          </a:stretch>
        </p:blipFill>
        <p:spPr bwMode="auto">
          <a:xfrm>
            <a:off x="2705100" y="495301"/>
            <a:ext cx="8782050" cy="6362700"/>
          </a:xfrm>
          <a:prstGeom prst="rect">
            <a:avLst/>
          </a:prstGeom>
          <a:noFill/>
          <a:ln w="9525">
            <a:noFill/>
            <a:miter lim="800000"/>
            <a:headEnd/>
            <a:tailEnd/>
          </a:ln>
          <a:effectLst/>
        </p:spPr>
      </p:pic>
    </p:spTree>
    <p:extLst>
      <p:ext uri="{BB962C8B-B14F-4D97-AF65-F5344CB8AC3E}">
        <p14:creationId xmlns:p14="http://schemas.microsoft.com/office/powerpoint/2010/main" xmlns=""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3074" name="Picture 2" descr="C:\Users\hp\Downloads\ChatGPT Image Jun 11, 2026, 10_45_53 PM.png"/>
          <p:cNvPicPr>
            <a:picLocks noChangeAspect="1" noChangeArrowheads="1"/>
          </p:cNvPicPr>
          <p:nvPr/>
        </p:nvPicPr>
        <p:blipFill>
          <a:blip r:embed="rId3"/>
          <a:srcRect/>
          <a:stretch>
            <a:fillRect/>
          </a:stretch>
        </p:blipFill>
        <p:spPr bwMode="auto">
          <a:xfrm>
            <a:off x="257175" y="777875"/>
            <a:ext cx="11677649" cy="608012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285750" y="910318"/>
            <a:ext cx="7742682" cy="5632311"/>
          </a:xfrm>
          <a:prstGeom prst="rect">
            <a:avLst/>
          </a:prstGeom>
          <a:noFill/>
        </p:spPr>
        <p:txBody>
          <a:bodyPr wrap="square" rtlCol="0">
            <a:spAutoFit/>
          </a:bodyPr>
          <a:lstStyle/>
          <a:p>
            <a:pPr algn="just"/>
            <a:r>
              <a:rPr lang="en-US" sz="1500" b="1" dirty="0" smtClean="0">
                <a:latin typeface="Times New Roman" pitchFamily="18" charset="0"/>
                <a:cs typeface="Times New Roman" pitchFamily="18" charset="0"/>
              </a:rPr>
              <a:t>🌾 Role of </a:t>
            </a:r>
            <a:r>
              <a:rPr lang="en-US" sz="1500" b="1" dirty="0" err="1" smtClean="0">
                <a:latin typeface="Times New Roman" pitchFamily="18" charset="0"/>
                <a:cs typeface="Times New Roman" pitchFamily="18" charset="0"/>
              </a:rPr>
              <a:t>Agentic</a:t>
            </a:r>
            <a:r>
              <a:rPr lang="en-US" sz="1500" b="1" dirty="0" smtClean="0">
                <a:latin typeface="Times New Roman" pitchFamily="18" charset="0"/>
                <a:cs typeface="Times New Roman" pitchFamily="18" charset="0"/>
              </a:rPr>
              <a:t> AI in Smart Farming Agent</a:t>
            </a:r>
          </a:p>
          <a:p>
            <a:pPr algn="just"/>
            <a:r>
              <a:rPr lang="en-US" sz="1500" dirty="0" err="1" smtClean="0">
                <a:latin typeface="Times New Roman" pitchFamily="18" charset="0"/>
                <a:cs typeface="Times New Roman" pitchFamily="18" charset="0"/>
              </a:rPr>
              <a:t>Agentic</a:t>
            </a:r>
            <a:r>
              <a:rPr lang="en-US" sz="1500" dirty="0" smtClean="0">
                <a:latin typeface="Times New Roman" pitchFamily="18" charset="0"/>
                <a:cs typeface="Times New Roman" pitchFamily="18" charset="0"/>
              </a:rPr>
              <a:t> AI enables the Smart Farming Agent to function as an </a:t>
            </a:r>
            <a:r>
              <a:rPr lang="en-US" sz="1500" b="1" dirty="0" smtClean="0">
                <a:latin typeface="Times New Roman" pitchFamily="18" charset="0"/>
                <a:cs typeface="Times New Roman" pitchFamily="18" charset="0"/>
              </a:rPr>
              <a:t>intelligent, autonomous agricultural advisory system</a:t>
            </a:r>
            <a:r>
              <a:rPr lang="en-US" sz="1500" dirty="0" smtClean="0">
                <a:latin typeface="Times New Roman" pitchFamily="18" charset="0"/>
                <a:cs typeface="Times New Roman" pitchFamily="18" charset="0"/>
              </a:rPr>
              <a:t> rather than a simple Q&amp;A </a:t>
            </a:r>
            <a:r>
              <a:rPr lang="en-US" sz="1500" dirty="0" err="1" smtClean="0">
                <a:latin typeface="Times New Roman" pitchFamily="18" charset="0"/>
                <a:cs typeface="Times New Roman" pitchFamily="18" charset="0"/>
              </a:rPr>
              <a:t>chatbot</a:t>
            </a:r>
            <a:r>
              <a:rPr lang="en-US" sz="1500" dirty="0" smtClean="0">
                <a:latin typeface="Times New Roman" pitchFamily="18" charset="0"/>
                <a:cs typeface="Times New Roman" pitchFamily="18" charset="0"/>
              </a:rPr>
              <a:t>. Using IBM watsonx.ai and IBM Granite models, it coordinates multiple specialized agents to deliver </a:t>
            </a:r>
            <a:r>
              <a:rPr lang="en-US" sz="1500" b="1" dirty="0" smtClean="0">
                <a:latin typeface="Times New Roman" pitchFamily="18" charset="0"/>
                <a:cs typeface="Times New Roman" pitchFamily="18" charset="0"/>
              </a:rPr>
              <a:t>accurate and data-driven farming recommendations</a:t>
            </a:r>
            <a:r>
              <a:rPr lang="en-US" sz="1500" dirty="0" smtClean="0">
                <a:latin typeface="Times New Roman" pitchFamily="18" charset="0"/>
                <a:cs typeface="Times New Roman" pitchFamily="18" charset="0"/>
              </a:rPr>
              <a:t>.</a:t>
            </a:r>
          </a:p>
          <a:p>
            <a:pPr algn="just"/>
            <a:endParaRPr lang="en-US" sz="1500" dirty="0" smtClean="0">
              <a:latin typeface="Times New Roman" pitchFamily="18" charset="0"/>
              <a:cs typeface="Times New Roman" pitchFamily="18" charset="0"/>
            </a:endParaRPr>
          </a:p>
          <a:p>
            <a:pPr algn="just"/>
            <a:r>
              <a:rPr lang="en-US" sz="1500" dirty="0" smtClean="0">
                <a:latin typeface="Times New Roman" pitchFamily="18" charset="0"/>
                <a:cs typeface="Times New Roman" pitchFamily="18" charset="0"/>
              </a:rPr>
              <a:t>Each agent performs a specific role—such as retrieving crop and soil data, analyzing weather conditions, detecting plant diseases, and generating farming advice—while working collaboratively. This </a:t>
            </a:r>
            <a:r>
              <a:rPr lang="en-US" sz="1500" b="1" dirty="0" smtClean="0">
                <a:latin typeface="Times New Roman" pitchFamily="18" charset="0"/>
                <a:cs typeface="Times New Roman" pitchFamily="18" charset="0"/>
              </a:rPr>
              <a:t>multi-agent approach</a:t>
            </a:r>
            <a:r>
              <a:rPr lang="en-US" sz="1500" dirty="0" smtClean="0">
                <a:latin typeface="Times New Roman" pitchFamily="18" charset="0"/>
                <a:cs typeface="Times New Roman" pitchFamily="18" charset="0"/>
              </a:rPr>
              <a:t> ensures efficient task execution and precise agricultural insights</a:t>
            </a:r>
            <a:r>
              <a:rPr lang="en-US" sz="1500" dirty="0" smtClean="0">
                <a:latin typeface="Times New Roman" pitchFamily="18" charset="0"/>
                <a:cs typeface="Times New Roman" pitchFamily="18" charset="0"/>
              </a:rPr>
              <a:t>.</a:t>
            </a:r>
          </a:p>
          <a:p>
            <a:pPr algn="just"/>
            <a:endParaRPr lang="en-US" sz="1500" dirty="0" smtClean="0">
              <a:latin typeface="Times New Roman" pitchFamily="18" charset="0"/>
              <a:cs typeface="Times New Roman" pitchFamily="18" charset="0"/>
            </a:endParaRPr>
          </a:p>
          <a:p>
            <a:pPr algn="just"/>
            <a:r>
              <a:rPr lang="en-US" sz="1500" dirty="0" err="1" smtClean="0">
                <a:latin typeface="Times New Roman" pitchFamily="18" charset="0"/>
                <a:cs typeface="Times New Roman" pitchFamily="18" charset="0"/>
              </a:rPr>
              <a:t>Agentic</a:t>
            </a:r>
            <a:r>
              <a:rPr lang="en-US" sz="1500" dirty="0" smtClean="0">
                <a:latin typeface="Times New Roman" pitchFamily="18" charset="0"/>
                <a:cs typeface="Times New Roman" pitchFamily="18" charset="0"/>
              </a:rPr>
              <a:t> AI also brings </a:t>
            </a:r>
            <a:r>
              <a:rPr lang="en-US" sz="1500" b="1" dirty="0" smtClean="0">
                <a:latin typeface="Times New Roman" pitchFamily="18" charset="0"/>
                <a:cs typeface="Times New Roman" pitchFamily="18" charset="0"/>
              </a:rPr>
              <a:t>context awareness</a:t>
            </a:r>
            <a:r>
              <a:rPr lang="en-US" sz="1500" dirty="0" smtClean="0">
                <a:latin typeface="Times New Roman" pitchFamily="18" charset="0"/>
                <a:cs typeface="Times New Roman" pitchFamily="18" charset="0"/>
              </a:rPr>
              <a:t>, understanding key farming parameters such as crop type, soil condition, location, and growth stage to generate </a:t>
            </a:r>
            <a:r>
              <a:rPr lang="en-US" sz="1500" b="1" dirty="0" smtClean="0">
                <a:latin typeface="Times New Roman" pitchFamily="18" charset="0"/>
                <a:cs typeface="Times New Roman" pitchFamily="18" charset="0"/>
              </a:rPr>
              <a:t>personalized recommendations</a:t>
            </a:r>
            <a:r>
              <a:rPr lang="en-US" sz="1500" dirty="0" smtClean="0">
                <a:latin typeface="Times New Roman" pitchFamily="18" charset="0"/>
                <a:cs typeface="Times New Roman" pitchFamily="18" charset="0"/>
              </a:rPr>
              <a:t> for farmers</a:t>
            </a:r>
            <a:r>
              <a:rPr lang="en-US" sz="1500" dirty="0" smtClean="0">
                <a:latin typeface="Times New Roman" pitchFamily="18" charset="0"/>
                <a:cs typeface="Times New Roman" pitchFamily="18" charset="0"/>
              </a:rPr>
              <a:t>.</a:t>
            </a:r>
          </a:p>
          <a:p>
            <a:pPr algn="just"/>
            <a:endParaRPr lang="en-US" sz="1500" dirty="0" smtClean="0">
              <a:latin typeface="Times New Roman" pitchFamily="18" charset="0"/>
              <a:cs typeface="Times New Roman" pitchFamily="18" charset="0"/>
            </a:endParaRPr>
          </a:p>
          <a:p>
            <a:pPr algn="just"/>
            <a:r>
              <a:rPr lang="en-US" sz="1500" dirty="0" smtClean="0">
                <a:latin typeface="Times New Roman" pitchFamily="18" charset="0"/>
                <a:cs typeface="Times New Roman" pitchFamily="18" charset="0"/>
              </a:rPr>
              <a:t>It supports </a:t>
            </a:r>
            <a:r>
              <a:rPr lang="en-US" sz="1500" b="1" dirty="0" smtClean="0">
                <a:latin typeface="Times New Roman" pitchFamily="18" charset="0"/>
                <a:cs typeface="Times New Roman" pitchFamily="18" charset="0"/>
              </a:rPr>
              <a:t>real-time adaptation</a:t>
            </a:r>
            <a:r>
              <a:rPr lang="en-US" sz="1500" dirty="0" smtClean="0">
                <a:latin typeface="Times New Roman" pitchFamily="18" charset="0"/>
                <a:cs typeface="Times New Roman" pitchFamily="18" charset="0"/>
              </a:rPr>
              <a:t>, continuously updating suggestions based on dynamic inputs like weather changes, crop health status, and farmer queries (e.g., irrigation needs or pest issues</a:t>
            </a:r>
            <a:r>
              <a:rPr lang="en-US" sz="1500" dirty="0" smtClean="0">
                <a:latin typeface="Times New Roman" pitchFamily="18" charset="0"/>
                <a:cs typeface="Times New Roman" pitchFamily="18" charset="0"/>
              </a:rPr>
              <a:t>).</a:t>
            </a:r>
          </a:p>
          <a:p>
            <a:pPr algn="just"/>
            <a:endParaRPr lang="en-US" sz="1500" dirty="0" smtClean="0">
              <a:latin typeface="Times New Roman" pitchFamily="18" charset="0"/>
              <a:cs typeface="Times New Roman" pitchFamily="18" charset="0"/>
            </a:endParaRPr>
          </a:p>
          <a:p>
            <a:pPr algn="just"/>
            <a:r>
              <a:rPr lang="en-US" sz="1500" dirty="0" smtClean="0">
                <a:latin typeface="Times New Roman" pitchFamily="18" charset="0"/>
                <a:cs typeface="Times New Roman" pitchFamily="18" charset="0"/>
              </a:rPr>
              <a:t>Additionally, agents communicate with each other, enabling </a:t>
            </a:r>
            <a:r>
              <a:rPr lang="en-US" sz="1500" b="1" dirty="0" smtClean="0">
                <a:latin typeface="Times New Roman" pitchFamily="18" charset="0"/>
                <a:cs typeface="Times New Roman" pitchFamily="18" charset="0"/>
              </a:rPr>
              <a:t>better decision-making and integrated farming solutions</a:t>
            </a:r>
            <a:r>
              <a:rPr lang="en-US" sz="1500" dirty="0" smtClean="0">
                <a:latin typeface="Times New Roman" pitchFamily="18" charset="0"/>
                <a:cs typeface="Times New Roman" pitchFamily="18" charset="0"/>
              </a:rPr>
              <a:t>, such as combining weather forecasts with irrigation planning</a:t>
            </a:r>
            <a:r>
              <a:rPr lang="en-US" sz="1500" dirty="0" smtClean="0">
                <a:latin typeface="Times New Roman" pitchFamily="18" charset="0"/>
                <a:cs typeface="Times New Roman" pitchFamily="18" charset="0"/>
              </a:rPr>
              <a:t>.</a:t>
            </a:r>
          </a:p>
          <a:p>
            <a:pPr algn="just"/>
            <a:endParaRPr lang="en-US" sz="1500" dirty="0" smtClean="0">
              <a:latin typeface="Times New Roman" pitchFamily="18" charset="0"/>
              <a:cs typeface="Times New Roman" pitchFamily="18" charset="0"/>
            </a:endParaRPr>
          </a:p>
          <a:p>
            <a:pPr algn="just"/>
            <a:r>
              <a:rPr lang="en-US" sz="1500" dirty="0" smtClean="0">
                <a:latin typeface="Times New Roman" pitchFamily="18" charset="0"/>
                <a:cs typeface="Times New Roman" pitchFamily="18" charset="0"/>
              </a:rPr>
              <a:t>Overall, </a:t>
            </a:r>
            <a:r>
              <a:rPr lang="en-US" sz="1500" dirty="0" err="1" smtClean="0">
                <a:latin typeface="Times New Roman" pitchFamily="18" charset="0"/>
                <a:cs typeface="Times New Roman" pitchFamily="18" charset="0"/>
              </a:rPr>
              <a:t>Agentic</a:t>
            </a:r>
            <a:r>
              <a:rPr lang="en-US" sz="1500" dirty="0" smtClean="0">
                <a:latin typeface="Times New Roman" pitchFamily="18" charset="0"/>
                <a:cs typeface="Times New Roman" pitchFamily="18" charset="0"/>
              </a:rPr>
              <a:t> AI makes the system </a:t>
            </a:r>
            <a:r>
              <a:rPr lang="en-US" sz="1500" b="1" dirty="0" smtClean="0">
                <a:latin typeface="Times New Roman" pitchFamily="18" charset="0"/>
                <a:cs typeface="Times New Roman" pitchFamily="18" charset="0"/>
              </a:rPr>
              <a:t>proactive, intelligent, and goal-driven</a:t>
            </a:r>
            <a:r>
              <a:rPr lang="en-US" sz="1500" dirty="0" smtClean="0">
                <a:latin typeface="Times New Roman" pitchFamily="18" charset="0"/>
                <a:cs typeface="Times New Roman" pitchFamily="18" charset="0"/>
              </a:rPr>
              <a:t>, acting like a smart digital agriculture expert that helps farmers improve productivity, reduce risks, and make informed farming decisions.</a:t>
            </a:r>
            <a:endParaRPr lang="en-US" sz="15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570756"/>
          </a:xfrm>
          <a:prstGeom prst="rect">
            <a:avLst/>
          </a:prstGeom>
          <a:noFill/>
        </p:spPr>
        <p:txBody>
          <a:bodyPr wrap="square" rtlCol="0">
            <a:spAutoFit/>
          </a:bodyPr>
          <a:lstStyle/>
          <a:p>
            <a:pPr marL="285750" indent="-285750">
              <a:buFont typeface="Arial" panose="020B0604020202020204" pitchFamily="34" charset="0"/>
              <a:buChar char="•"/>
            </a:pPr>
            <a:r>
              <a:rPr lang="en-US" sz="2000" b="1" dirty="0" err="1" smtClean="0">
                <a:latin typeface="Times New Roman" pitchFamily="18" charset="0"/>
                <a:cs typeface="Times New Roman" pitchFamily="18" charset="0"/>
              </a:rPr>
              <a:t>Langflow</a:t>
            </a:r>
            <a:r>
              <a:rPr lang="en-US" sz="2000" b="1" dirty="0" smtClean="0">
                <a:latin typeface="Times New Roman" pitchFamily="18" charset="0"/>
                <a:cs typeface="Times New Roman" pitchFamily="18" charset="0"/>
              </a:rPr>
              <a:t> Platform</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For designing and orchestrating multi-agent workflows visually. It helps in building a structured pipeline for farming-related tasks such as crop advice, disease detection, and weather-based </a:t>
            </a:r>
            <a:r>
              <a:rPr lang="en-US" sz="2000" dirty="0" smtClean="0">
                <a:latin typeface="Times New Roman" pitchFamily="18" charset="0"/>
                <a:cs typeface="Times New Roman" pitchFamily="18" charset="0"/>
              </a:rPr>
              <a:t>recommendations.</a:t>
            </a:r>
            <a:endParaRPr lang="en-US" sz="2000" dirty="0">
              <a:latin typeface="Times New Roman" pitchFamily="18" charset="0"/>
              <a:cs typeface="Times New Roman" pitchFamily="18" charset="0"/>
            </a:endParaRPr>
          </a:p>
          <a:p>
            <a:pPr marL="285750" indent="-285750">
              <a:buFont typeface="Arial" panose="020B0604020202020204" pitchFamily="34" charset="0"/>
              <a:buChar char="•"/>
            </a:pPr>
            <a:r>
              <a:rPr lang="en-US" sz="2000" b="1" dirty="0" smtClean="0">
                <a:latin typeface="Times New Roman" pitchFamily="18" charset="0"/>
                <a:cs typeface="Times New Roman" pitchFamily="18" charset="0"/>
              </a:rPr>
              <a:t>IBM </a:t>
            </a:r>
            <a:r>
              <a:rPr lang="en-US" sz="2000" b="1" dirty="0" smtClean="0">
                <a:latin typeface="Times New Roman" pitchFamily="18" charset="0"/>
                <a:cs typeface="Times New Roman" pitchFamily="18" charset="0"/>
              </a:rPr>
              <a:t>Granite Model (IBM watsonx.ai)</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For example – </a:t>
            </a:r>
            <a:r>
              <a:rPr lang="en-US" sz="2000" i="1" dirty="0" smtClean="0">
                <a:latin typeface="Times New Roman" pitchFamily="18" charset="0"/>
                <a:cs typeface="Times New Roman" pitchFamily="18" charset="0"/>
              </a:rPr>
              <a:t>granite-3-2-8b-instruct</a:t>
            </a:r>
            <a:r>
              <a:rPr lang="en-US" sz="2000" dirty="0" smtClean="0">
                <a:latin typeface="Times New Roman" pitchFamily="18" charset="0"/>
                <a:cs typeface="Times New Roman" pitchFamily="18" charset="0"/>
              </a:rPr>
              <a:t> – used for natural language understanding, reasoning, and generating personalized farming advice based on user queries and agricultural </a:t>
            </a:r>
            <a:r>
              <a:rPr lang="en-US" sz="2000" dirty="0" smtClean="0">
                <a:latin typeface="Times New Roman" pitchFamily="18" charset="0"/>
                <a:cs typeface="Times New Roman" pitchFamily="18" charset="0"/>
              </a:rPr>
              <a:t>data.</a:t>
            </a:r>
          </a:p>
          <a:p>
            <a:pPr marL="285750" indent="-285750">
              <a:buFont typeface="Arial" panose="020B0604020202020204" pitchFamily="34" charset="0"/>
              <a:buChar char="•"/>
            </a:pPr>
            <a:r>
              <a:rPr lang="en-US" sz="2000" b="1" dirty="0" smtClean="0">
                <a:latin typeface="Times New Roman" pitchFamily="18" charset="0"/>
                <a:cs typeface="Times New Roman" pitchFamily="18" charset="0"/>
              </a:rPr>
              <a:t>IBM </a:t>
            </a:r>
            <a:r>
              <a:rPr lang="en-US" sz="2000" b="1" dirty="0" smtClean="0">
                <a:latin typeface="Times New Roman" pitchFamily="18" charset="0"/>
                <a:cs typeface="Times New Roman" pitchFamily="18" charset="0"/>
              </a:rPr>
              <a:t>Cloud</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It provides the infrastructure to build, deploy, and scale the Smart Farming Agent efficiently. IBM Cloud ensures a reliable, secure, and scalable environment for handling real-time agricultural data and AI </a:t>
            </a:r>
            <a:r>
              <a:rPr lang="en-US" sz="2000" dirty="0" smtClean="0">
                <a:latin typeface="Times New Roman" pitchFamily="18" charset="0"/>
                <a:cs typeface="Times New Roman" pitchFamily="18" charset="0"/>
              </a:rPr>
              <a:t>services.</a:t>
            </a:r>
          </a:p>
          <a:p>
            <a:pPr marL="285750" indent="-285750">
              <a:buFont typeface="Arial" panose="020B0604020202020204" pitchFamily="34" charset="0"/>
              <a:buChar char="•"/>
            </a:pPr>
            <a:r>
              <a:rPr lang="en-US" sz="2000" b="1" dirty="0" smtClean="0">
                <a:latin typeface="Times New Roman" pitchFamily="18" charset="0"/>
                <a:cs typeface="Times New Roman" pitchFamily="18" charset="0"/>
              </a:rPr>
              <a:t>RAG </a:t>
            </a:r>
            <a:r>
              <a:rPr lang="en-US" sz="2000" b="1" dirty="0" smtClean="0">
                <a:latin typeface="Times New Roman" pitchFamily="18" charset="0"/>
                <a:cs typeface="Times New Roman" pitchFamily="18" charset="0"/>
              </a:rPr>
              <a:t>(Retrieval-Augmented Generation)</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Used to first retrieve real agricultural data (such as ICAR guidelines, crop manuals, soil data, and pest information) and then generate accurate and trustworthy farming </a:t>
            </a:r>
            <a:r>
              <a:rPr lang="en-US" sz="2000" dirty="0" smtClean="0">
                <a:latin typeface="Times New Roman" pitchFamily="18" charset="0"/>
                <a:cs typeface="Times New Roman" pitchFamily="18" charset="0"/>
              </a:rPr>
              <a:t>recommendations.</a:t>
            </a:r>
          </a:p>
          <a:p>
            <a:pPr marL="285750" indent="-285750">
              <a:buFont typeface="Arial" panose="020B0604020202020204" pitchFamily="34" charset="0"/>
              <a:buChar char="•"/>
            </a:pPr>
            <a:r>
              <a:rPr lang="en-US" sz="2000" b="1" dirty="0" smtClean="0">
                <a:latin typeface="Times New Roman" pitchFamily="18" charset="0"/>
                <a:cs typeface="Times New Roman" pitchFamily="18" charset="0"/>
              </a:rPr>
              <a:t>IBM </a:t>
            </a:r>
            <a:r>
              <a:rPr lang="en-US" sz="2000" b="1" dirty="0" smtClean="0">
                <a:latin typeface="Times New Roman" pitchFamily="18" charset="0"/>
                <a:cs typeface="Times New Roman" pitchFamily="18" charset="0"/>
              </a:rPr>
              <a:t>Watsonx.ai</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Used for model deployment, embeddings, prompt management, and AI governance. It helps ensure the Smart Farming Agent delivers consistent, high-quality, and controlled AI responses</a:t>
            </a:r>
            <a:r>
              <a:rPr lang="en-US" sz="20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a:p>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xmlns=""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098" name="Picture 2"/>
          <p:cNvPicPr>
            <a:picLocks noChangeAspect="1" noChangeArrowheads="1"/>
          </p:cNvPicPr>
          <p:nvPr/>
        </p:nvPicPr>
        <p:blipFill>
          <a:blip r:embed="rId3"/>
          <a:srcRect/>
          <a:stretch>
            <a:fillRect/>
          </a:stretch>
        </p:blipFill>
        <p:spPr bwMode="auto">
          <a:xfrm>
            <a:off x="1247775" y="1136650"/>
            <a:ext cx="9372600" cy="541655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352425" y="1054608"/>
            <a:ext cx="11839575" cy="5755422"/>
          </a:xfrm>
          <a:prstGeom prst="rect">
            <a:avLst/>
          </a:prstGeom>
          <a:noFill/>
        </p:spPr>
        <p:txBody>
          <a:bodyPr wrap="square" rtlCol="0">
            <a:spAutoFit/>
          </a:bodyPr>
          <a:lstStyle/>
          <a:p>
            <a:pPr algn="just"/>
            <a:r>
              <a:rPr lang="en-US" sz="1600" dirty="0" smtClean="0">
                <a:latin typeface="Times New Roman" pitchFamily="18" charset="0"/>
                <a:cs typeface="Times New Roman" pitchFamily="18" charset="0"/>
              </a:rPr>
              <a:t>The proposed Smart Farming AI Agent introduces a </a:t>
            </a:r>
            <a:r>
              <a:rPr lang="en-US" sz="1600" b="1" dirty="0" smtClean="0">
                <a:latin typeface="Times New Roman" pitchFamily="18" charset="0"/>
                <a:cs typeface="Times New Roman" pitchFamily="18" charset="0"/>
              </a:rPr>
              <a:t>modern </a:t>
            </a:r>
            <a:r>
              <a:rPr lang="en-US" sz="1600" b="1" dirty="0" err="1" smtClean="0">
                <a:latin typeface="Times New Roman" pitchFamily="18" charset="0"/>
                <a:cs typeface="Times New Roman" pitchFamily="18" charset="0"/>
              </a:rPr>
              <a:t>Agentic</a:t>
            </a:r>
            <a:r>
              <a:rPr lang="en-US" sz="1600" b="1" dirty="0" smtClean="0">
                <a:latin typeface="Times New Roman" pitchFamily="18" charset="0"/>
                <a:cs typeface="Times New Roman" pitchFamily="18" charset="0"/>
              </a:rPr>
              <a:t> AI-based approach</a:t>
            </a:r>
            <a:r>
              <a:rPr lang="en-US" sz="1600" dirty="0" smtClean="0">
                <a:latin typeface="Times New Roman" pitchFamily="18" charset="0"/>
                <a:cs typeface="Times New Roman" pitchFamily="18" charset="0"/>
              </a:rPr>
              <a:t> to agriculture, making it more intelligent and decision-driven compared to traditional advisory systems.</a:t>
            </a:r>
          </a:p>
          <a:p>
            <a:pPr algn="just">
              <a:buFont typeface="Arial" pitchFamily="34" charset="0"/>
              <a:buChar char="•"/>
            </a:pPr>
            <a:r>
              <a:rPr lang="en-US" sz="1600" b="1" dirty="0" smtClean="0">
                <a:latin typeface="Times New Roman" pitchFamily="18" charset="0"/>
                <a:cs typeface="Times New Roman" pitchFamily="18" charset="0"/>
              </a:rPr>
              <a:t> </a:t>
            </a:r>
            <a:r>
              <a:rPr lang="en-US" sz="1600" b="1" dirty="0" err="1" smtClean="0">
                <a:latin typeface="Times New Roman" pitchFamily="18" charset="0"/>
                <a:cs typeface="Times New Roman" pitchFamily="18" charset="0"/>
              </a:rPr>
              <a:t>Agentic</a:t>
            </a:r>
            <a:r>
              <a:rPr lang="en-US" sz="1600" b="1"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AI–Driven Farming System</a:t>
            </a:r>
          </a:p>
          <a:p>
            <a:pPr algn="just"/>
            <a:r>
              <a:rPr lang="en-US" sz="1600" dirty="0" smtClean="0">
                <a:latin typeface="Times New Roman" pitchFamily="18" charset="0"/>
                <a:cs typeface="Times New Roman" pitchFamily="18" charset="0"/>
              </a:rPr>
              <a:t>Unlike basic </a:t>
            </a:r>
            <a:r>
              <a:rPr lang="en-US" sz="1600" dirty="0" err="1" smtClean="0">
                <a:latin typeface="Times New Roman" pitchFamily="18" charset="0"/>
                <a:cs typeface="Times New Roman" pitchFamily="18" charset="0"/>
              </a:rPr>
              <a:t>chatbots</a:t>
            </a:r>
            <a:r>
              <a:rPr lang="en-US" sz="1600" dirty="0" smtClean="0">
                <a:latin typeface="Times New Roman" pitchFamily="18" charset="0"/>
                <a:cs typeface="Times New Roman" pitchFamily="18" charset="0"/>
              </a:rPr>
              <a:t>, the system acts as an </a:t>
            </a:r>
            <a:r>
              <a:rPr lang="en-US" sz="1600" b="1" dirty="0" smtClean="0">
                <a:latin typeface="Times New Roman" pitchFamily="18" charset="0"/>
                <a:cs typeface="Times New Roman" pitchFamily="18" charset="0"/>
              </a:rPr>
              <a:t>autonomous farming assistant</a:t>
            </a:r>
            <a:r>
              <a:rPr lang="en-US" sz="1600" dirty="0" smtClean="0">
                <a:latin typeface="Times New Roman" pitchFamily="18" charset="0"/>
                <a:cs typeface="Times New Roman" pitchFamily="18" charset="0"/>
              </a:rPr>
              <a:t> that can plan, reason, and take multi-step decisions to provide complete agricultural guidance.</a:t>
            </a:r>
          </a:p>
          <a:p>
            <a:pPr algn="just">
              <a:buFont typeface="Arial" pitchFamily="34" charset="0"/>
              <a:buChar char="•"/>
            </a:pPr>
            <a:r>
              <a:rPr lang="en-US" sz="1600" b="1" dirty="0" smtClean="0">
                <a:latin typeface="Times New Roman" pitchFamily="18" charset="0"/>
                <a:cs typeface="Times New Roman" pitchFamily="18" charset="0"/>
              </a:rPr>
              <a:t> Multi-Agent </a:t>
            </a:r>
            <a:r>
              <a:rPr lang="en-US" sz="1600" b="1" dirty="0" smtClean="0">
                <a:latin typeface="Times New Roman" pitchFamily="18" charset="0"/>
                <a:cs typeface="Times New Roman" pitchFamily="18" charset="0"/>
              </a:rPr>
              <a:t>Collaboration</a:t>
            </a:r>
          </a:p>
          <a:p>
            <a:pPr algn="just"/>
            <a:r>
              <a:rPr lang="en-US" sz="1600" dirty="0" smtClean="0">
                <a:latin typeface="Times New Roman" pitchFamily="18" charset="0"/>
                <a:cs typeface="Times New Roman" pitchFamily="18" charset="0"/>
              </a:rPr>
              <a:t>The system uses a </a:t>
            </a:r>
            <a:r>
              <a:rPr lang="en-US" sz="1600" b="1" dirty="0" smtClean="0">
                <a:latin typeface="Times New Roman" pitchFamily="18" charset="0"/>
                <a:cs typeface="Times New Roman" pitchFamily="18" charset="0"/>
              </a:rPr>
              <a:t>multi-agent architecture</a:t>
            </a:r>
            <a:r>
              <a:rPr lang="en-US" sz="1600" dirty="0" smtClean="0">
                <a:latin typeface="Times New Roman" pitchFamily="18" charset="0"/>
                <a:cs typeface="Times New Roman" pitchFamily="18" charset="0"/>
              </a:rPr>
              <a:t> where different agents handle specific tasks such as crop advisory, soil analysis, weather interpretation, and pest/disease recommendations. These agents collaborate to generate accurate and reliable outputs</a:t>
            </a:r>
            <a:r>
              <a:rPr lang="en-US" sz="1600" dirty="0" smtClean="0">
                <a:latin typeface="Times New Roman" pitchFamily="18" charset="0"/>
                <a:cs typeface="Times New Roman" pitchFamily="18" charset="0"/>
              </a:rPr>
              <a:t>.</a:t>
            </a:r>
          </a:p>
          <a:p>
            <a:pPr algn="just">
              <a:buFont typeface="Arial" pitchFamily="34" charset="0"/>
              <a:buChar char="•"/>
            </a:pPr>
            <a:r>
              <a:rPr lang="en-US" sz="1600" b="1"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Context-Aware </a:t>
            </a:r>
            <a:r>
              <a:rPr lang="en-US" sz="1600" b="1" dirty="0" smtClean="0">
                <a:latin typeface="Times New Roman" pitchFamily="18" charset="0"/>
                <a:cs typeface="Times New Roman" pitchFamily="18" charset="0"/>
              </a:rPr>
              <a:t>Personalized Advice</a:t>
            </a:r>
          </a:p>
          <a:p>
            <a:pPr algn="just"/>
            <a:r>
              <a:rPr lang="en-US" sz="1600" dirty="0" smtClean="0">
                <a:latin typeface="Times New Roman" pitchFamily="18" charset="0"/>
                <a:cs typeface="Times New Roman" pitchFamily="18" charset="0"/>
              </a:rPr>
              <a:t>The model understands </a:t>
            </a:r>
            <a:r>
              <a:rPr lang="en-US" sz="1600" b="1" dirty="0" smtClean="0">
                <a:latin typeface="Times New Roman" pitchFamily="18" charset="0"/>
                <a:cs typeface="Times New Roman" pitchFamily="18" charset="0"/>
              </a:rPr>
              <a:t>farmer-specific context</a:t>
            </a:r>
            <a:r>
              <a:rPr lang="en-US" sz="1600" dirty="0" smtClean="0">
                <a:latin typeface="Times New Roman" pitchFamily="18" charset="0"/>
                <a:cs typeface="Times New Roman" pitchFamily="18" charset="0"/>
              </a:rPr>
              <a:t> such as crop type, soil condition, location, and growth stage to deliver </a:t>
            </a:r>
            <a:r>
              <a:rPr lang="en-US" sz="1600" b="1" dirty="0" smtClean="0">
                <a:latin typeface="Times New Roman" pitchFamily="18" charset="0"/>
                <a:cs typeface="Times New Roman" pitchFamily="18" charset="0"/>
              </a:rPr>
              <a:t>highly personalized farming solutions</a:t>
            </a:r>
            <a:r>
              <a:rPr lang="en-US" sz="1600" dirty="0" smtClean="0">
                <a:latin typeface="Times New Roman" pitchFamily="18" charset="0"/>
                <a:cs typeface="Times New Roman" pitchFamily="18" charset="0"/>
              </a:rPr>
              <a:t> instead of generic suggestions.</a:t>
            </a:r>
          </a:p>
          <a:p>
            <a:pPr algn="just">
              <a:buFont typeface="Arial" pitchFamily="34" charset="0"/>
              <a:buChar char="•"/>
            </a:pPr>
            <a:r>
              <a:rPr lang="en-US" sz="1600" b="1" dirty="0" smtClean="0">
                <a:latin typeface="Times New Roman" pitchFamily="18" charset="0"/>
                <a:cs typeface="Times New Roman" pitchFamily="18" charset="0"/>
              </a:rPr>
              <a:t> RAG-Based </a:t>
            </a:r>
            <a:r>
              <a:rPr lang="en-US" sz="1600" b="1" dirty="0" smtClean="0">
                <a:latin typeface="Times New Roman" pitchFamily="18" charset="0"/>
                <a:cs typeface="Times New Roman" pitchFamily="18" charset="0"/>
              </a:rPr>
              <a:t>Trusted Knowledge Integration</a:t>
            </a:r>
          </a:p>
          <a:p>
            <a:pPr algn="just"/>
            <a:r>
              <a:rPr lang="en-US" sz="1600" dirty="0" smtClean="0">
                <a:latin typeface="Times New Roman" pitchFamily="18" charset="0"/>
                <a:cs typeface="Times New Roman" pitchFamily="18" charset="0"/>
              </a:rPr>
              <a:t>By integrating </a:t>
            </a:r>
            <a:r>
              <a:rPr lang="en-US" sz="1600" b="1" dirty="0" smtClean="0">
                <a:latin typeface="Times New Roman" pitchFamily="18" charset="0"/>
                <a:cs typeface="Times New Roman" pitchFamily="18" charset="0"/>
              </a:rPr>
              <a:t>Retrieval-Augmented Generation (RAG)</a:t>
            </a:r>
            <a:r>
              <a:rPr lang="en-US" sz="1600" dirty="0" smtClean="0">
                <a:latin typeface="Times New Roman" pitchFamily="18" charset="0"/>
                <a:cs typeface="Times New Roman" pitchFamily="18" charset="0"/>
              </a:rPr>
              <a:t>, the system first fetches verified agricultural data (ICAR guidelines, crop manuals, weather insights) before generating responses, ensuring </a:t>
            </a:r>
            <a:r>
              <a:rPr lang="en-US" sz="1600" b="1" dirty="0" smtClean="0">
                <a:latin typeface="Times New Roman" pitchFamily="18" charset="0"/>
                <a:cs typeface="Times New Roman" pitchFamily="18" charset="0"/>
              </a:rPr>
              <a:t>accuracy and reliability</a:t>
            </a:r>
            <a:r>
              <a:rPr lang="en-US" sz="1600" dirty="0" smtClean="0">
                <a:latin typeface="Times New Roman" pitchFamily="18" charset="0"/>
                <a:cs typeface="Times New Roman" pitchFamily="18" charset="0"/>
              </a:rPr>
              <a:t>.</a:t>
            </a:r>
          </a:p>
          <a:p>
            <a:pPr algn="just">
              <a:buFont typeface="Arial" pitchFamily="34" charset="0"/>
              <a:buChar char="•"/>
            </a:pPr>
            <a:r>
              <a:rPr lang="en-US" sz="1600" b="1"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Real-Time </a:t>
            </a:r>
            <a:r>
              <a:rPr lang="en-US" sz="1600" b="1" dirty="0" smtClean="0">
                <a:latin typeface="Times New Roman" pitchFamily="18" charset="0"/>
                <a:cs typeface="Times New Roman" pitchFamily="18" charset="0"/>
              </a:rPr>
              <a:t>Adaptive Recommendations</a:t>
            </a:r>
          </a:p>
          <a:p>
            <a:pPr algn="just"/>
            <a:r>
              <a:rPr lang="en-US" sz="1600" dirty="0" smtClean="0">
                <a:latin typeface="Times New Roman" pitchFamily="18" charset="0"/>
                <a:cs typeface="Times New Roman" pitchFamily="18" charset="0"/>
              </a:rPr>
              <a:t>The agent continuously adapts to </a:t>
            </a:r>
            <a:r>
              <a:rPr lang="en-US" sz="1600" b="1" dirty="0" smtClean="0">
                <a:latin typeface="Times New Roman" pitchFamily="18" charset="0"/>
                <a:cs typeface="Times New Roman" pitchFamily="18" charset="0"/>
              </a:rPr>
              <a:t>changing conditions like weather updates, crop health, and user inputs</a:t>
            </a:r>
            <a:r>
              <a:rPr lang="en-US" sz="1600" dirty="0" smtClean="0">
                <a:latin typeface="Times New Roman" pitchFamily="18" charset="0"/>
                <a:cs typeface="Times New Roman" pitchFamily="18" charset="0"/>
              </a:rPr>
              <a:t>, enabling dynamic and real-time decision support for farmers.</a:t>
            </a:r>
          </a:p>
          <a:p>
            <a:pPr algn="just">
              <a:buFont typeface="Arial" pitchFamily="34" charset="0"/>
              <a:buChar char="•"/>
            </a:pPr>
            <a:r>
              <a:rPr lang="en-US" sz="1600" b="1"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Scalable </a:t>
            </a:r>
            <a:r>
              <a:rPr lang="en-US" sz="1600" b="1" dirty="0" smtClean="0">
                <a:latin typeface="Times New Roman" pitchFamily="18" charset="0"/>
                <a:cs typeface="Times New Roman" pitchFamily="18" charset="0"/>
              </a:rPr>
              <a:t>Cloud &amp; IBM Ecosystem Integration</a:t>
            </a:r>
          </a:p>
          <a:p>
            <a:pPr algn="just"/>
            <a:r>
              <a:rPr lang="en-US" sz="1600" dirty="0" smtClean="0">
                <a:latin typeface="Times New Roman" pitchFamily="18" charset="0"/>
                <a:cs typeface="Times New Roman" pitchFamily="18" charset="0"/>
              </a:rPr>
              <a:t>Built using </a:t>
            </a:r>
            <a:r>
              <a:rPr lang="en-US" sz="1600" b="1" dirty="0" smtClean="0">
                <a:latin typeface="Times New Roman" pitchFamily="18" charset="0"/>
                <a:cs typeface="Times New Roman" pitchFamily="18" charset="0"/>
              </a:rPr>
              <a:t>IBM Watsonx.ai, IBM Granite models, </a:t>
            </a:r>
            <a:r>
              <a:rPr lang="en-US" sz="1600" b="1" dirty="0" err="1" smtClean="0">
                <a:latin typeface="Times New Roman" pitchFamily="18" charset="0"/>
                <a:cs typeface="Times New Roman" pitchFamily="18" charset="0"/>
              </a:rPr>
              <a:t>Langflow</a:t>
            </a:r>
            <a:r>
              <a:rPr lang="en-US" sz="1600" b="1" dirty="0" smtClean="0">
                <a:latin typeface="Times New Roman" pitchFamily="18" charset="0"/>
                <a:cs typeface="Times New Roman" pitchFamily="18" charset="0"/>
              </a:rPr>
              <a:t>, and IBM Cloud</a:t>
            </a:r>
            <a:r>
              <a:rPr lang="en-US" sz="1600" dirty="0" smtClean="0">
                <a:latin typeface="Times New Roman" pitchFamily="18" charset="0"/>
                <a:cs typeface="Times New Roman" pitchFamily="18" charset="0"/>
              </a:rPr>
              <a:t>, the system ensures </a:t>
            </a:r>
            <a:r>
              <a:rPr lang="en-US" sz="1600" b="1" dirty="0" smtClean="0">
                <a:latin typeface="Times New Roman" pitchFamily="18" charset="0"/>
                <a:cs typeface="Times New Roman" pitchFamily="18" charset="0"/>
              </a:rPr>
              <a:t>scalability, security, and enterprise-level AI governance</a:t>
            </a:r>
            <a:r>
              <a:rPr lang="en-US" sz="1600" dirty="0" smtClean="0">
                <a:latin typeface="Times New Roman" pitchFamily="18" charset="0"/>
                <a:cs typeface="Times New Roman" pitchFamily="18" charset="0"/>
              </a:rPr>
              <a:t>.</a:t>
            </a:r>
          </a:p>
          <a:p>
            <a:pPr algn="just">
              <a:buFont typeface="Arial" pitchFamily="34" charset="0"/>
              <a:buChar char="•"/>
            </a:pPr>
            <a:r>
              <a:rPr lang="en-US" sz="1600" b="1" dirty="0" smtClean="0">
                <a:latin typeface="Times New Roman" pitchFamily="18" charset="0"/>
                <a:cs typeface="Times New Roman" pitchFamily="18" charset="0"/>
              </a:rPr>
              <a:t>Overall </a:t>
            </a:r>
            <a:r>
              <a:rPr lang="en-US" sz="1600" b="1" dirty="0" smtClean="0">
                <a:latin typeface="Times New Roman" pitchFamily="18" charset="0"/>
                <a:cs typeface="Times New Roman" pitchFamily="18" charset="0"/>
              </a:rPr>
              <a:t>Uniqueness</a:t>
            </a:r>
          </a:p>
          <a:p>
            <a:pPr algn="just"/>
            <a:r>
              <a:rPr lang="en-US" sz="1600" dirty="0" smtClean="0">
                <a:latin typeface="Times New Roman" pitchFamily="18" charset="0"/>
                <a:cs typeface="Times New Roman" pitchFamily="18" charset="0"/>
              </a:rPr>
              <a:t>This project stands out by combining </a:t>
            </a:r>
            <a:r>
              <a:rPr lang="en-US" sz="1600" b="1" dirty="0" err="1" smtClean="0">
                <a:latin typeface="Times New Roman" pitchFamily="18" charset="0"/>
                <a:cs typeface="Times New Roman" pitchFamily="18" charset="0"/>
              </a:rPr>
              <a:t>Agentic</a:t>
            </a:r>
            <a:r>
              <a:rPr lang="en-US" sz="1600" b="1" dirty="0" smtClean="0">
                <a:latin typeface="Times New Roman" pitchFamily="18" charset="0"/>
                <a:cs typeface="Times New Roman" pitchFamily="18" charset="0"/>
              </a:rPr>
              <a:t> AI + Multi-Agent System + RAG + Real-time agricultural intelligence</a:t>
            </a:r>
            <a:r>
              <a:rPr lang="en-US" sz="1600" dirty="0" smtClean="0">
                <a:latin typeface="Times New Roman" pitchFamily="18" charset="0"/>
                <a:cs typeface="Times New Roman" pitchFamily="18" charset="0"/>
              </a:rPr>
              <a:t>, creating a </a:t>
            </a:r>
            <a:r>
              <a:rPr lang="en-US" sz="1600" b="1" dirty="0" smtClean="0">
                <a:latin typeface="Times New Roman" pitchFamily="18" charset="0"/>
                <a:cs typeface="Times New Roman" pitchFamily="18" charset="0"/>
              </a:rPr>
              <a:t>smart digital farming assistant that actively supports farmers in decision-making and productivity </a:t>
            </a:r>
            <a:r>
              <a:rPr lang="en-US" sz="1600" b="1" dirty="0" smtClean="0">
                <a:latin typeface="Times New Roman" pitchFamily="18" charset="0"/>
                <a:cs typeface="Times New Roman" pitchFamily="18" charset="0"/>
              </a:rPr>
              <a:t>improvement.</a:t>
            </a:r>
            <a:endParaRPr lang="en-US" sz="1600"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hlinkClick r:id="rId3"/>
              </a:rPr>
              <a:t>https</a:t>
            </a:r>
            <a:r>
              <a:rPr lang="en-US" sz="1850" dirty="0" smtClean="0">
                <a:solidFill>
                  <a:srgbClr val="2B3541"/>
                </a:solidFill>
                <a:latin typeface="Times New Roman"/>
                <a:ea typeface="Times New Roman"/>
                <a:cs typeface="Times New Roman"/>
                <a:sym typeface="Times New Roman"/>
                <a:hlinkClick r:id="rId3"/>
              </a:rPr>
              <a:t>://</a:t>
            </a:r>
            <a:r>
              <a:rPr lang="en-US" sz="1850" dirty="0" smtClean="0">
                <a:solidFill>
                  <a:srgbClr val="2B3541"/>
                </a:solidFill>
                <a:latin typeface="Times New Roman"/>
                <a:ea typeface="Times New Roman"/>
                <a:cs typeface="Times New Roman"/>
                <a:sym typeface="Times New Roman"/>
                <a:hlinkClick r:id="rId3"/>
              </a:rPr>
              <a:t>github.com/ripalwork89-a11y/FDP_BVM_Ripal_AgriGenAI</a:t>
            </a:r>
            <a:endParaRPr lang="en-US" sz="1850" dirty="0" smtClean="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smtClean="0">
                <a:solidFill>
                  <a:srgbClr val="2B3541"/>
                </a:solidFill>
                <a:latin typeface="Times New Roman"/>
                <a:ea typeface="Times New Roman"/>
                <a:cs typeface="Times New Roman"/>
                <a:sym typeface="Times New Roman"/>
              </a:rPr>
              <a:t>Uploaded </a:t>
            </a:r>
            <a:r>
              <a:rPr lang="en-US" sz="1850" b="1" dirty="0">
                <a:solidFill>
                  <a:srgbClr val="2B3541"/>
                </a:solidFill>
                <a:latin typeface="Times New Roman"/>
                <a:ea typeface="Times New Roman"/>
                <a:cs typeface="Times New Roman"/>
                <a:sym typeface="Times New Roman"/>
              </a:rPr>
              <a:t>following three files into </a:t>
            </a:r>
            <a:r>
              <a:rPr lang="en-US" sz="1850" b="1" dirty="0" err="1" smtClean="0">
                <a:solidFill>
                  <a:srgbClr val="2B3541"/>
                </a:solidFill>
                <a:latin typeface="Times New Roman"/>
                <a:ea typeface="Times New Roman"/>
                <a:cs typeface="Times New Roman"/>
                <a:sym typeface="Times New Roman"/>
              </a:rPr>
              <a:t>github</a:t>
            </a:r>
            <a:r>
              <a:rPr lang="en-US" sz="1850" b="1" dirty="0" smtClean="0">
                <a:solidFill>
                  <a:srgbClr val="2B3541"/>
                </a:solidFill>
                <a:latin typeface="Times New Roman"/>
                <a:ea typeface="Times New Roman"/>
                <a:cs typeface="Times New Roman"/>
                <a:sym typeface="Times New Roman"/>
              </a:rPr>
              <a:t> </a:t>
            </a:r>
            <a:r>
              <a:rPr lang="en-US" sz="1850" b="1" dirty="0">
                <a:solidFill>
                  <a:srgbClr val="2B3541"/>
                </a:solidFill>
                <a:latin typeface="Times New Roman"/>
                <a:ea typeface="Times New Roman"/>
                <a:cs typeface="Times New Roman"/>
                <a:sym typeface="Times New Roman"/>
              </a:rPr>
              <a:t>repository  </a:t>
            </a:r>
            <a:r>
              <a:rPr lang="en-US" sz="1850" dirty="0">
                <a:solidFill>
                  <a:srgbClr val="2B3541"/>
                </a:solidFill>
                <a:latin typeface="Times New Roman"/>
                <a:ea typeface="Times New Roman"/>
                <a:cs typeface="Times New Roman"/>
                <a:sym typeface="Times New Roman"/>
              </a:rPr>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smtClean="0">
                <a:solidFill>
                  <a:srgbClr val="2B3541"/>
                </a:solidFill>
                <a:latin typeface="Times New Roman"/>
                <a:ea typeface="Times New Roman"/>
                <a:cs typeface="Times New Roman"/>
                <a:sym typeface="Times New Roman"/>
              </a:rPr>
              <a:t>AgriGenAI.json</a:t>
            </a:r>
            <a:endParaRPr lang="en-US" sz="1850" dirty="0" smtClean="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2</a:t>
            </a:r>
            <a:r>
              <a:rPr lang="en-US" sz="1850" dirty="0">
                <a:solidFill>
                  <a:srgbClr val="2B3541"/>
                </a:solidFill>
                <a:latin typeface="Times New Roman"/>
                <a:ea typeface="Times New Roman"/>
                <a:cs typeface="Times New Roman"/>
                <a:sym typeface="Times New Roman"/>
              </a:rPr>
              <a:t>) </a:t>
            </a:r>
            <a:r>
              <a:rPr lang="en-US" sz="1850" dirty="0" smtClean="0">
                <a:solidFill>
                  <a:srgbClr val="2B3541"/>
                </a:solidFill>
                <a:latin typeface="Times New Roman"/>
                <a:ea typeface="Times New Roman"/>
                <a:cs typeface="Times New Roman"/>
                <a:sym typeface="Times New Roman"/>
              </a:rPr>
              <a:t>AI Agent for Smart Farming Advice.pdf </a:t>
            </a:r>
          </a:p>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3</a:t>
            </a:r>
            <a:r>
              <a:rPr lang="en-US" sz="1850" dirty="0">
                <a:solidFill>
                  <a:srgbClr val="2B3541"/>
                </a:solidFill>
                <a:latin typeface="Times New Roman"/>
                <a:ea typeface="Times New Roman"/>
                <a:cs typeface="Times New Roman"/>
                <a:sym typeface="Times New Roman"/>
              </a:rPr>
              <a:t>) </a:t>
            </a:r>
            <a:r>
              <a:rPr lang="en-US" sz="1850" dirty="0" smtClean="0">
                <a:solidFill>
                  <a:srgbClr val="2B3541"/>
                </a:solidFill>
                <a:latin typeface="Times New Roman"/>
                <a:ea typeface="Times New Roman"/>
                <a:cs typeface="Times New Roman"/>
                <a:sym typeface="Times New Roman"/>
              </a:rPr>
              <a:t>FDP_BVM_Ripal_AgriGenAI.pptx</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390049" y="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266700" y="764515"/>
            <a:ext cx="11753850" cy="4277001"/>
          </a:xfrm>
          <a:prstGeom prst="rect">
            <a:avLst/>
          </a:prstGeom>
          <a:noFill/>
          <a:ln>
            <a:noFill/>
          </a:ln>
        </p:spPr>
        <p:txBody>
          <a:bodyPr spcFirstLastPara="1" wrap="square" lIns="0" tIns="0" rIns="0" bIns="0" anchor="t" anchorCtr="0">
            <a:noAutofit/>
          </a:bodyPr>
          <a:lstStyle/>
          <a:p>
            <a:pPr algn="just"/>
            <a:r>
              <a:rPr lang="en-US" sz="1700" dirty="0" smtClean="0">
                <a:latin typeface="Times New Roman" pitchFamily="18" charset="0"/>
                <a:cs typeface="Times New Roman" pitchFamily="18" charset="0"/>
              </a:rPr>
              <a:t>The Smart Farming AI Agent has strong potential for future expansion into a more advanced, real-world agricultural intelligence system.</a:t>
            </a:r>
          </a:p>
          <a:p>
            <a:pPr algn="just">
              <a:buFont typeface="Arial" pitchFamily="34" charset="0"/>
              <a:buChar char="•"/>
            </a:pPr>
            <a:r>
              <a:rPr lang="en-US" sz="1700" b="1" dirty="0" smtClean="0">
                <a:latin typeface="Times New Roman" pitchFamily="18" charset="0"/>
                <a:cs typeface="Times New Roman" pitchFamily="18" charset="0"/>
              </a:rPr>
              <a:t> </a:t>
            </a:r>
            <a:r>
              <a:rPr lang="en-US" sz="1700" b="1" dirty="0" err="1" smtClean="0">
                <a:latin typeface="Times New Roman" pitchFamily="18" charset="0"/>
                <a:cs typeface="Times New Roman" pitchFamily="18" charset="0"/>
              </a:rPr>
              <a:t>IoT</a:t>
            </a:r>
            <a:r>
              <a:rPr lang="en-US" sz="1700" b="1" dirty="0" smtClean="0">
                <a:latin typeface="Times New Roman" pitchFamily="18" charset="0"/>
                <a:cs typeface="Times New Roman" pitchFamily="18" charset="0"/>
              </a:rPr>
              <a:t> </a:t>
            </a:r>
            <a:r>
              <a:rPr lang="en-US" sz="1700" b="1" dirty="0" smtClean="0">
                <a:latin typeface="Times New Roman" pitchFamily="18" charset="0"/>
                <a:cs typeface="Times New Roman" pitchFamily="18" charset="0"/>
              </a:rPr>
              <a:t>&amp; Sensor Integration</a:t>
            </a:r>
          </a:p>
          <a:p>
            <a:pPr algn="just"/>
            <a:r>
              <a:rPr lang="en-US" sz="1700" dirty="0" smtClean="0">
                <a:latin typeface="Times New Roman" pitchFamily="18" charset="0"/>
                <a:cs typeface="Times New Roman" pitchFamily="18" charset="0"/>
              </a:rPr>
              <a:t>In the future, the system can be connected with </a:t>
            </a:r>
            <a:r>
              <a:rPr lang="en-US" sz="1700" b="1" dirty="0" err="1" smtClean="0">
                <a:latin typeface="Times New Roman" pitchFamily="18" charset="0"/>
                <a:cs typeface="Times New Roman" pitchFamily="18" charset="0"/>
              </a:rPr>
              <a:t>IoT</a:t>
            </a:r>
            <a:r>
              <a:rPr lang="en-US" sz="1700" b="1" dirty="0" smtClean="0">
                <a:latin typeface="Times New Roman" pitchFamily="18" charset="0"/>
                <a:cs typeface="Times New Roman" pitchFamily="18" charset="0"/>
              </a:rPr>
              <a:t> devices and smart sensors</a:t>
            </a:r>
            <a:r>
              <a:rPr lang="en-US" sz="1700" dirty="0" smtClean="0">
                <a:latin typeface="Times New Roman" pitchFamily="18" charset="0"/>
                <a:cs typeface="Times New Roman" pitchFamily="18" charset="0"/>
              </a:rPr>
              <a:t> to collect real-time data on soil moisture, temperature, humidity, and crop health for more accurate </a:t>
            </a:r>
            <a:r>
              <a:rPr lang="en-US" sz="1700" dirty="0" smtClean="0">
                <a:latin typeface="Times New Roman" pitchFamily="18" charset="0"/>
                <a:cs typeface="Times New Roman" pitchFamily="18" charset="0"/>
              </a:rPr>
              <a:t>recommendations.</a:t>
            </a:r>
          </a:p>
          <a:p>
            <a:pPr algn="just">
              <a:buFont typeface="Arial" pitchFamily="34" charset="0"/>
              <a:buChar char="•"/>
            </a:pPr>
            <a:r>
              <a:rPr lang="en-US" sz="1700" b="1" dirty="0" smtClean="0">
                <a:latin typeface="Times New Roman" pitchFamily="18" charset="0"/>
                <a:cs typeface="Times New Roman" pitchFamily="18" charset="0"/>
              </a:rPr>
              <a:t> </a:t>
            </a:r>
            <a:r>
              <a:rPr lang="en-US" sz="1700" b="1" dirty="0" smtClean="0">
                <a:latin typeface="Times New Roman" pitchFamily="18" charset="0"/>
                <a:cs typeface="Times New Roman" pitchFamily="18" charset="0"/>
              </a:rPr>
              <a:t>Mobile </a:t>
            </a:r>
            <a:r>
              <a:rPr lang="en-US" sz="1700" b="1" dirty="0" smtClean="0">
                <a:latin typeface="Times New Roman" pitchFamily="18" charset="0"/>
                <a:cs typeface="Times New Roman" pitchFamily="18" charset="0"/>
              </a:rPr>
              <a:t>App for Farmers</a:t>
            </a:r>
          </a:p>
          <a:p>
            <a:pPr algn="just"/>
            <a:r>
              <a:rPr lang="en-US" sz="1700" dirty="0" smtClean="0">
                <a:latin typeface="Times New Roman" pitchFamily="18" charset="0"/>
                <a:cs typeface="Times New Roman" pitchFamily="18" charset="0"/>
              </a:rPr>
              <a:t>A dedicated </a:t>
            </a:r>
            <a:r>
              <a:rPr lang="en-US" sz="1700" b="1" dirty="0" smtClean="0">
                <a:latin typeface="Times New Roman" pitchFamily="18" charset="0"/>
                <a:cs typeface="Times New Roman" pitchFamily="18" charset="0"/>
              </a:rPr>
              <a:t>mobile application (voice-enabled and multilingual)</a:t>
            </a:r>
            <a:r>
              <a:rPr lang="en-US" sz="1700" dirty="0" smtClean="0">
                <a:latin typeface="Times New Roman" pitchFamily="18" charset="0"/>
                <a:cs typeface="Times New Roman" pitchFamily="18" charset="0"/>
              </a:rPr>
              <a:t> can be developed so that farmers can easily access farming advice in local languages.</a:t>
            </a:r>
          </a:p>
          <a:p>
            <a:pPr algn="just">
              <a:buFont typeface="Arial" pitchFamily="34" charset="0"/>
              <a:buChar char="•"/>
            </a:pPr>
            <a:r>
              <a:rPr lang="en-US" sz="1700" b="1" dirty="0" smtClean="0">
                <a:latin typeface="Times New Roman" pitchFamily="18" charset="0"/>
                <a:cs typeface="Times New Roman" pitchFamily="18" charset="0"/>
              </a:rPr>
              <a:t> Satellite </a:t>
            </a:r>
            <a:r>
              <a:rPr lang="en-US" sz="1700" b="1" dirty="0" smtClean="0">
                <a:latin typeface="Times New Roman" pitchFamily="18" charset="0"/>
                <a:cs typeface="Times New Roman" pitchFamily="18" charset="0"/>
              </a:rPr>
              <a:t>&amp; Drone Data Analysis</a:t>
            </a:r>
          </a:p>
          <a:p>
            <a:pPr algn="just"/>
            <a:r>
              <a:rPr lang="en-US" sz="1700" dirty="0" smtClean="0">
                <a:latin typeface="Times New Roman" pitchFamily="18" charset="0"/>
                <a:cs typeface="Times New Roman" pitchFamily="18" charset="0"/>
              </a:rPr>
              <a:t>Integration with </a:t>
            </a:r>
            <a:r>
              <a:rPr lang="en-US" sz="1700" b="1" dirty="0" smtClean="0">
                <a:latin typeface="Times New Roman" pitchFamily="18" charset="0"/>
                <a:cs typeface="Times New Roman" pitchFamily="18" charset="0"/>
              </a:rPr>
              <a:t>satellite imagery and drone data</a:t>
            </a:r>
            <a:r>
              <a:rPr lang="en-US" sz="1700" dirty="0" smtClean="0">
                <a:latin typeface="Times New Roman" pitchFamily="18" charset="0"/>
                <a:cs typeface="Times New Roman" pitchFamily="18" charset="0"/>
              </a:rPr>
              <a:t> can help in large-scale crop monitoring, disease detection, and yield prediction.</a:t>
            </a:r>
          </a:p>
          <a:p>
            <a:pPr algn="just">
              <a:buFont typeface="Arial" pitchFamily="34" charset="0"/>
              <a:buChar char="•"/>
            </a:pPr>
            <a:r>
              <a:rPr lang="en-US" sz="1700" b="1" dirty="0" smtClean="0">
                <a:latin typeface="Times New Roman" pitchFamily="18" charset="0"/>
                <a:cs typeface="Times New Roman" pitchFamily="18" charset="0"/>
              </a:rPr>
              <a:t>Voice-Based </a:t>
            </a:r>
            <a:r>
              <a:rPr lang="en-US" sz="1700" b="1" dirty="0" smtClean="0">
                <a:latin typeface="Times New Roman" pitchFamily="18" charset="0"/>
                <a:cs typeface="Times New Roman" pitchFamily="18" charset="0"/>
              </a:rPr>
              <a:t>AI Assistant</a:t>
            </a:r>
          </a:p>
          <a:p>
            <a:pPr algn="just"/>
            <a:r>
              <a:rPr lang="en-US" sz="1700" dirty="0" smtClean="0">
                <a:latin typeface="Times New Roman" pitchFamily="18" charset="0"/>
                <a:cs typeface="Times New Roman" pitchFamily="18" charset="0"/>
              </a:rPr>
              <a:t>A </a:t>
            </a:r>
            <a:r>
              <a:rPr lang="en-US" sz="1700" b="1" dirty="0" smtClean="0">
                <a:latin typeface="Times New Roman" pitchFamily="18" charset="0"/>
                <a:cs typeface="Times New Roman" pitchFamily="18" charset="0"/>
              </a:rPr>
              <a:t>voice-first farming assistant</a:t>
            </a:r>
            <a:r>
              <a:rPr lang="en-US" sz="1700" dirty="0" smtClean="0">
                <a:latin typeface="Times New Roman" pitchFamily="18" charset="0"/>
                <a:cs typeface="Times New Roman" pitchFamily="18" charset="0"/>
              </a:rPr>
              <a:t> can be introduced to support farmers with low literacy levels, enabling hands-free interaction in regional languages.</a:t>
            </a:r>
          </a:p>
          <a:p>
            <a:pPr algn="just">
              <a:buFont typeface="Arial" pitchFamily="34" charset="0"/>
              <a:buChar char="•"/>
            </a:pPr>
            <a:r>
              <a:rPr lang="en-US" sz="1700" b="1" dirty="0" smtClean="0">
                <a:latin typeface="Times New Roman" pitchFamily="18" charset="0"/>
                <a:cs typeface="Times New Roman" pitchFamily="18" charset="0"/>
              </a:rPr>
              <a:t> Government </a:t>
            </a:r>
            <a:r>
              <a:rPr lang="en-US" sz="1700" b="1" dirty="0" smtClean="0">
                <a:latin typeface="Times New Roman" pitchFamily="18" charset="0"/>
                <a:cs typeface="Times New Roman" pitchFamily="18" charset="0"/>
              </a:rPr>
              <a:t>Scheme Integration</a:t>
            </a:r>
          </a:p>
          <a:p>
            <a:pPr algn="just"/>
            <a:r>
              <a:rPr lang="en-US" sz="1700" dirty="0" smtClean="0">
                <a:latin typeface="Times New Roman" pitchFamily="18" charset="0"/>
                <a:cs typeface="Times New Roman" pitchFamily="18" charset="0"/>
              </a:rPr>
              <a:t>The system can be extended to provide information about </a:t>
            </a:r>
            <a:r>
              <a:rPr lang="en-US" sz="1700" b="1" dirty="0" smtClean="0">
                <a:latin typeface="Times New Roman" pitchFamily="18" charset="0"/>
                <a:cs typeface="Times New Roman" pitchFamily="18" charset="0"/>
              </a:rPr>
              <a:t>government subsidies, crop insurance, and agricultural schemes</a:t>
            </a:r>
            <a:r>
              <a:rPr lang="en-US" sz="1700" dirty="0" smtClean="0">
                <a:latin typeface="Times New Roman" pitchFamily="18" charset="0"/>
                <a:cs typeface="Times New Roman" pitchFamily="18" charset="0"/>
              </a:rPr>
              <a:t> based on user location and crop type.</a:t>
            </a:r>
          </a:p>
          <a:p>
            <a:pPr algn="just">
              <a:buFont typeface="Arial" pitchFamily="34" charset="0"/>
              <a:buChar char="•"/>
            </a:pPr>
            <a:r>
              <a:rPr lang="en-US" sz="1700" b="1" dirty="0" smtClean="0">
                <a:latin typeface="Times New Roman" pitchFamily="18" charset="0"/>
                <a:cs typeface="Times New Roman" pitchFamily="18" charset="0"/>
              </a:rPr>
              <a:t> </a:t>
            </a:r>
            <a:r>
              <a:rPr lang="en-US" sz="1700" b="1" dirty="0" smtClean="0">
                <a:latin typeface="Times New Roman" pitchFamily="18" charset="0"/>
                <a:cs typeface="Times New Roman" pitchFamily="18" charset="0"/>
              </a:rPr>
              <a:t>Fully </a:t>
            </a:r>
            <a:r>
              <a:rPr lang="en-US" sz="1700" b="1" dirty="0" smtClean="0">
                <a:latin typeface="Times New Roman" pitchFamily="18" charset="0"/>
                <a:cs typeface="Times New Roman" pitchFamily="18" charset="0"/>
              </a:rPr>
              <a:t>Autonomous Farming Advisor</a:t>
            </a:r>
          </a:p>
          <a:p>
            <a:pPr algn="just"/>
            <a:r>
              <a:rPr lang="en-US" sz="1700" dirty="0" smtClean="0">
                <a:latin typeface="Times New Roman" pitchFamily="18" charset="0"/>
                <a:cs typeface="Times New Roman" pitchFamily="18" charset="0"/>
              </a:rPr>
              <a:t>In the long term, the system can evolve into a </a:t>
            </a:r>
            <a:r>
              <a:rPr lang="en-US" sz="1700" b="1" dirty="0" smtClean="0">
                <a:latin typeface="Times New Roman" pitchFamily="18" charset="0"/>
                <a:cs typeface="Times New Roman" pitchFamily="18" charset="0"/>
              </a:rPr>
              <a:t>fully autonomous AI farming advisor</a:t>
            </a:r>
            <a:r>
              <a:rPr lang="en-US" sz="1700" dirty="0" smtClean="0">
                <a:latin typeface="Times New Roman" pitchFamily="18" charset="0"/>
                <a:cs typeface="Times New Roman" pitchFamily="18" charset="0"/>
              </a:rPr>
              <a:t> that continuously monitors data and provides proactive decision-making support without user prompts.</a:t>
            </a:r>
          </a:p>
          <a:p>
            <a:pPr algn="just">
              <a:buFont typeface="Arial" pitchFamily="34" charset="0"/>
              <a:buChar char="•"/>
            </a:pPr>
            <a:r>
              <a:rPr lang="en-US" sz="1700" b="1" dirty="0" smtClean="0">
                <a:latin typeface="Times New Roman" pitchFamily="18" charset="0"/>
                <a:cs typeface="Times New Roman" pitchFamily="18" charset="0"/>
              </a:rPr>
              <a:t> Overall </a:t>
            </a:r>
            <a:r>
              <a:rPr lang="en-US" sz="1700" b="1" dirty="0" smtClean="0">
                <a:latin typeface="Times New Roman" pitchFamily="18" charset="0"/>
                <a:cs typeface="Times New Roman" pitchFamily="18" charset="0"/>
              </a:rPr>
              <a:t>Vision</a:t>
            </a:r>
          </a:p>
          <a:p>
            <a:pPr algn="just"/>
            <a:r>
              <a:rPr lang="en-US" sz="1700" dirty="0" smtClean="0">
                <a:latin typeface="Times New Roman" pitchFamily="18" charset="0"/>
                <a:cs typeface="Times New Roman" pitchFamily="18" charset="0"/>
              </a:rPr>
              <a:t>To transform the Smart Farming AI Agent into a </a:t>
            </a:r>
            <a:r>
              <a:rPr lang="en-US" sz="1700" b="1" dirty="0" smtClean="0">
                <a:latin typeface="Times New Roman" pitchFamily="18" charset="0"/>
                <a:cs typeface="Times New Roman" pitchFamily="18" charset="0"/>
              </a:rPr>
              <a:t>complete digital agriculture ecosystem</a:t>
            </a:r>
            <a:r>
              <a:rPr lang="en-US" sz="1700" dirty="0" smtClean="0">
                <a:latin typeface="Times New Roman" pitchFamily="18" charset="0"/>
                <a:cs typeface="Times New Roman" pitchFamily="18" charset="0"/>
              </a:rPr>
              <a:t> that empowers farmers with data-driven, real-time, and intelligent farming decisions</a:t>
            </a:r>
            <a:r>
              <a:rPr lang="en-US" sz="1700" dirty="0" smtClean="0">
                <a:latin typeface="Times New Roman" pitchFamily="18" charset="0"/>
                <a:cs typeface="Times New Roman" pitchFamily="18" charset="0"/>
              </a:rPr>
              <a:t>.</a:t>
            </a:r>
            <a:endParaRPr lang="en-US" sz="1700" dirty="0" smtClean="0">
              <a:latin typeface="Times New Roman" pitchFamily="18" charset="0"/>
              <a:cs typeface="Times New Roman" pitchFamily="18" charset="0"/>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b="21549"/>
          <a:stretch/>
        </p:blipFill>
        <p:spPr>
          <a:xfrm>
            <a:off x="0" y="2190302"/>
            <a:ext cx="12192000" cy="194354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1280</TotalTime>
  <Words>1390</Words>
  <Application>Microsoft Office PowerPoint</Application>
  <PresentationFormat>Custom</PresentationFormat>
  <Paragraphs>146</Paragraphs>
  <Slides>15</Slides>
  <Notes>14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hp</cp:lastModifiedBy>
  <cp:revision>42</cp:revision>
  <dcterms:created xsi:type="dcterms:W3CDTF">2025-07-08T05:06:56Z</dcterms:created>
  <dcterms:modified xsi:type="dcterms:W3CDTF">2026-06-11T18:57:44Z</dcterms:modified>
</cp:coreProperties>
</file>